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354" r:id="rId2"/>
    <p:sldId id="353" r:id="rId3"/>
    <p:sldId id="358" r:id="rId4"/>
    <p:sldId id="360" r:id="rId5"/>
    <p:sldId id="362" r:id="rId6"/>
    <p:sldId id="363" r:id="rId7"/>
    <p:sldId id="361" r:id="rId8"/>
    <p:sldId id="364" r:id="rId9"/>
  </p:sldIdLst>
  <p:sldSz cx="9144000" cy="6858000" type="screen4x3"/>
  <p:notesSz cx="6807200" cy="99393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8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8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8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8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8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sz="800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sz="800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sz="800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sz="800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66"/>
    <a:srgbClr val="70AA48"/>
    <a:srgbClr val="246A36"/>
    <a:srgbClr val="000000"/>
    <a:srgbClr val="206E38"/>
    <a:srgbClr val="47923A"/>
    <a:srgbClr val="62BB53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093" autoAdjust="0"/>
    <p:restoredTop sz="98124" autoAdjust="0"/>
  </p:normalViewPr>
  <p:slideViewPr>
    <p:cSldViewPr>
      <p:cViewPr>
        <p:scale>
          <a:sx n="110" d="100"/>
          <a:sy n="110" d="100"/>
        </p:scale>
        <p:origin x="-1152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0" d="100"/>
          <a:sy n="80" d="100"/>
        </p:scale>
        <p:origin x="-3996" y="-84"/>
      </p:cViewPr>
      <p:guideLst>
        <p:guide orient="horz" pos="3130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F695F08-F9F4-4647-B516-1846C0EA9ED7}" type="datetimeFigureOut">
              <a:rPr lang="ko-KR" altLang="en-US"/>
              <a:pPr>
                <a:defRPr/>
              </a:pPr>
              <a:t>2026-05-22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5BA4AE1F-0BA3-4FEB-80BA-7FC2AE3B359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06454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7F8AA57-2664-4F9A-88A5-9BD1F81AE895}" type="datetimeFigureOut">
              <a:rPr lang="ko-KR" altLang="en-US"/>
              <a:pPr>
                <a:defRPr/>
              </a:pPr>
              <a:t>2026-05-22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  <a:endParaRPr lang="ko-KR" altLang="en-US" noProof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7E7E64CB-A574-4A51-B624-0292CD23548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010393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E7E64CB-A574-4A51-B624-0292CD235481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7439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E7E64CB-A574-4A51-B624-0292CD235481}" type="slidenum">
              <a:rPr lang="ko-KR" altLang="en-US" smtClean="0"/>
              <a:pPr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7439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E7E64CB-A574-4A51-B624-0292CD235481}" type="slidenum">
              <a:rPr lang="ko-KR" altLang="en-US" smtClean="0"/>
              <a:pPr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743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E7E64CB-A574-4A51-B624-0292CD235481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743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E7E64CB-A574-4A51-B624-0292CD235481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743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E7E64CB-A574-4A51-B624-0292CD235481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7439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E7E64CB-A574-4A51-B624-0292CD235481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743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D37D3-7778-44F3-888E-7782A5C40FA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B0BD80-CAFC-41AA-9185-41760C1E12B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EA0138-E733-4C63-959F-622C7A3D36A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A0F146-2C47-437D-AB67-07EFE49AECD6}" type="datetimeFigureOut">
              <a:rPr lang="ko-KR" altLang="en-US"/>
              <a:pPr>
                <a:defRPr/>
              </a:pPr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78C007-06B2-410E-A8B2-6EF7A411E83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E0705D-281A-4DAB-A7BD-BDDC1008E93F}" type="datetimeFigureOut">
              <a:rPr lang="ko-KR" altLang="en-US"/>
              <a:pPr>
                <a:defRPr/>
              </a:pPr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9AE6C-4C29-4A79-A121-2078F2E2700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072B85-2499-4167-A08D-F3E51E4B0A66}" type="datetimeFigureOut">
              <a:rPr lang="ko-KR" altLang="en-US"/>
              <a:pPr>
                <a:defRPr/>
              </a:pPr>
              <a:t>2026-05-22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01DB7D-49AC-4848-B556-EA588065211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EC0478-A740-45CD-AD0C-6798D4D5C04A}" type="datetimeFigureOut">
              <a:rPr lang="ko-KR" altLang="en-US"/>
              <a:pPr>
                <a:defRPr/>
              </a:pPr>
              <a:t>2026-05-22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40120C-F417-4F80-AF6A-7AED88E9C31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5B5672-BE15-49E3-95E9-424D89382048}" type="datetimeFigureOut">
              <a:rPr lang="ko-KR" altLang="en-US"/>
              <a:pPr>
                <a:defRPr/>
              </a:pPr>
              <a:t>2026-05-22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0FC66D-5089-4CAF-8557-83F893C38A4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7E5633-4909-4780-B49C-210211CECC73}" type="datetimeFigureOut">
              <a:rPr lang="ko-KR" altLang="en-US"/>
              <a:pPr>
                <a:defRPr/>
              </a:pPr>
              <a:t>2026-05-22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0024E2-9B5B-4AD5-8B71-C4FC16C590B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99AD2F-AC0D-4340-8045-D700ED780B9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8D2107-99AF-4CFA-BDA3-C5EEEA534A5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FEE4AA-E6D7-4B78-A0C4-39236557DA88}" type="datetimeFigureOut">
              <a:rPr lang="ko-KR" altLang="en-US"/>
              <a:pPr>
                <a:defRPr/>
              </a:pPr>
              <a:t>2026-05-22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98BFA0-AFC4-4F1E-BDBC-AF84F8B4015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noProof="0" smtClean="0"/>
              <a:t>그림을 추가하려면 아이콘을 클릭하십시오</a:t>
            </a:r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A82043-A799-477B-96F9-C607DAE48E31}" type="datetimeFigureOut">
              <a:rPr lang="ko-KR" altLang="en-US"/>
              <a:pPr>
                <a:defRPr/>
              </a:pPr>
              <a:t>2026-05-22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378793-F688-4E25-B7A6-C237247064B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A02744-EF52-4954-AFD1-C8700979C0A2}" type="datetimeFigureOut">
              <a:rPr lang="ko-KR" altLang="en-US"/>
              <a:pPr>
                <a:defRPr/>
              </a:pPr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D59257-9D8D-4A39-A584-BD94706E17E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A0923B-A6AE-45B6-AE24-A18DCE6CF768}" type="datetimeFigureOut">
              <a:rPr lang="ko-KR" altLang="en-US"/>
              <a:pPr>
                <a:defRPr/>
              </a:pPr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49DA94-69C1-476A-94BA-65FD56BCFA8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36BD0B4-7A2C-42D1-B046-56B49B3A2F9F}" type="datetimeFigureOut">
              <a:rPr lang="ko-KR" altLang="en-US"/>
              <a:pPr>
                <a:defRPr/>
              </a:pPr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2A68E7D-009E-4D1F-BE03-BA104FCBDA0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pic>
        <p:nvPicPr>
          <p:cNvPr id="7" name="Picture 3" descr="C:\Users\USER\Desktop\ppt 바닥로고 3차.jpg"/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6525344"/>
            <a:ext cx="7560840" cy="27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3" r:id="rId4"/>
    <p:sldLayoutId id="2147483662" r:id="rId5"/>
    <p:sldLayoutId id="2147483661" r:id="rId6"/>
    <p:sldLayoutId id="2147483660" r:id="rId7"/>
    <p:sldLayoutId id="2147483659" r:id="rId8"/>
    <p:sldLayoutId id="2147483658" r:id="rId9"/>
    <p:sldLayoutId id="2147483667" r:id="rId10"/>
    <p:sldLayoutId id="2147483668" r:id="rId11"/>
    <p:sldLayoutId id="2147483657" r:id="rId12"/>
    <p:sldLayoutId id="2147483656" r:id="rId13"/>
    <p:sldLayoutId id="2147483655" r:id="rId14"/>
    <p:sldLayoutId id="2147483654" r:id="rId15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13" Type="http://schemas.openxmlformats.org/officeDocument/2006/relationships/image" Target="../media/image24.jpeg"/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12" Type="http://schemas.openxmlformats.org/officeDocument/2006/relationships/image" Target="../media/image2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jpeg"/><Relationship Id="rId11" Type="http://schemas.openxmlformats.org/officeDocument/2006/relationships/image" Target="../media/image22.jpeg"/><Relationship Id="rId5" Type="http://schemas.openxmlformats.org/officeDocument/2006/relationships/image" Target="../media/image16.jpeg"/><Relationship Id="rId10" Type="http://schemas.openxmlformats.org/officeDocument/2006/relationships/image" Target="../media/image21.jpeg"/><Relationship Id="rId4" Type="http://schemas.openxmlformats.org/officeDocument/2006/relationships/image" Target="../media/image15.jpeg"/><Relationship Id="rId9" Type="http://schemas.openxmlformats.org/officeDocument/2006/relationships/image" Target="../media/image20.jpeg"/><Relationship Id="rId1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eg"/><Relationship Id="rId13" Type="http://schemas.openxmlformats.org/officeDocument/2006/relationships/image" Target="../media/image36.jpeg"/><Relationship Id="rId3" Type="http://schemas.openxmlformats.org/officeDocument/2006/relationships/image" Target="../media/image26.jpeg"/><Relationship Id="rId7" Type="http://schemas.openxmlformats.org/officeDocument/2006/relationships/image" Target="../media/image30.jpeg"/><Relationship Id="rId12" Type="http://schemas.openxmlformats.org/officeDocument/2006/relationships/image" Target="../media/image3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jpeg"/><Relationship Id="rId11" Type="http://schemas.openxmlformats.org/officeDocument/2006/relationships/image" Target="../media/image34.jpeg"/><Relationship Id="rId5" Type="http://schemas.openxmlformats.org/officeDocument/2006/relationships/image" Target="../media/image28.jpeg"/><Relationship Id="rId10" Type="http://schemas.openxmlformats.org/officeDocument/2006/relationships/image" Target="../media/image33.jpeg"/><Relationship Id="rId4" Type="http://schemas.openxmlformats.org/officeDocument/2006/relationships/image" Target="../media/image27.jpeg"/><Relationship Id="rId9" Type="http://schemas.openxmlformats.org/officeDocument/2006/relationships/image" Target="../media/image32.jpeg"/><Relationship Id="rId14" Type="http://schemas.openxmlformats.org/officeDocument/2006/relationships/image" Target="../media/image37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jpeg"/><Relationship Id="rId13" Type="http://schemas.openxmlformats.org/officeDocument/2006/relationships/image" Target="../media/image48.jpeg"/><Relationship Id="rId3" Type="http://schemas.openxmlformats.org/officeDocument/2006/relationships/image" Target="../media/image38.jpeg"/><Relationship Id="rId7" Type="http://schemas.openxmlformats.org/officeDocument/2006/relationships/image" Target="../media/image42.jpeg"/><Relationship Id="rId12" Type="http://schemas.openxmlformats.org/officeDocument/2006/relationships/image" Target="../media/image47.jpe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.jpeg"/><Relationship Id="rId11" Type="http://schemas.openxmlformats.org/officeDocument/2006/relationships/image" Target="../media/image46.jpeg"/><Relationship Id="rId5" Type="http://schemas.openxmlformats.org/officeDocument/2006/relationships/image" Target="../media/image40.jpeg"/><Relationship Id="rId15" Type="http://schemas.openxmlformats.org/officeDocument/2006/relationships/image" Target="../media/image50.jpeg"/><Relationship Id="rId10" Type="http://schemas.openxmlformats.org/officeDocument/2006/relationships/image" Target="../media/image45.jpeg"/><Relationship Id="rId4" Type="http://schemas.openxmlformats.org/officeDocument/2006/relationships/image" Target="../media/image39.jpeg"/><Relationship Id="rId9" Type="http://schemas.openxmlformats.org/officeDocument/2006/relationships/image" Target="../media/image44.jpeg"/><Relationship Id="rId14" Type="http://schemas.openxmlformats.org/officeDocument/2006/relationships/image" Target="../media/image49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jpeg"/><Relationship Id="rId13" Type="http://schemas.openxmlformats.org/officeDocument/2006/relationships/image" Target="../media/image62.jpeg"/><Relationship Id="rId3" Type="http://schemas.openxmlformats.org/officeDocument/2006/relationships/image" Target="../media/image52.jpeg"/><Relationship Id="rId7" Type="http://schemas.openxmlformats.org/officeDocument/2006/relationships/image" Target="../media/image56.jpeg"/><Relationship Id="rId12" Type="http://schemas.openxmlformats.org/officeDocument/2006/relationships/image" Target="../media/image6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5.jpeg"/><Relationship Id="rId11" Type="http://schemas.openxmlformats.org/officeDocument/2006/relationships/image" Target="../media/image60.jpeg"/><Relationship Id="rId5" Type="http://schemas.openxmlformats.org/officeDocument/2006/relationships/image" Target="../media/image54.jpeg"/><Relationship Id="rId10" Type="http://schemas.openxmlformats.org/officeDocument/2006/relationships/image" Target="../media/image59.jpeg"/><Relationship Id="rId4" Type="http://schemas.openxmlformats.org/officeDocument/2006/relationships/image" Target="../media/image53.jpeg"/><Relationship Id="rId9" Type="http://schemas.openxmlformats.org/officeDocument/2006/relationships/image" Target="../media/image58.jpeg"/><Relationship Id="rId14" Type="http://schemas.openxmlformats.org/officeDocument/2006/relationships/image" Target="../media/image63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jpeg"/><Relationship Id="rId13" Type="http://schemas.openxmlformats.org/officeDocument/2006/relationships/image" Target="../media/image74.jpeg"/><Relationship Id="rId3" Type="http://schemas.openxmlformats.org/officeDocument/2006/relationships/image" Target="../media/image64.jpeg"/><Relationship Id="rId7" Type="http://schemas.openxmlformats.org/officeDocument/2006/relationships/image" Target="../media/image68.jpeg"/><Relationship Id="rId12" Type="http://schemas.openxmlformats.org/officeDocument/2006/relationships/image" Target="../media/image7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7.jpeg"/><Relationship Id="rId11" Type="http://schemas.openxmlformats.org/officeDocument/2006/relationships/image" Target="../media/image72.jpeg"/><Relationship Id="rId5" Type="http://schemas.openxmlformats.org/officeDocument/2006/relationships/image" Target="../media/image66.jpeg"/><Relationship Id="rId10" Type="http://schemas.openxmlformats.org/officeDocument/2006/relationships/image" Target="../media/image71.jpeg"/><Relationship Id="rId4" Type="http://schemas.openxmlformats.org/officeDocument/2006/relationships/image" Target="../media/image65.jpeg"/><Relationship Id="rId9" Type="http://schemas.openxmlformats.org/officeDocument/2006/relationships/image" Target="../media/image70.jpeg"/><Relationship Id="rId14" Type="http://schemas.openxmlformats.org/officeDocument/2006/relationships/image" Target="../media/image75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jpeg"/><Relationship Id="rId3" Type="http://schemas.openxmlformats.org/officeDocument/2006/relationships/image" Target="../media/image76.jpeg"/><Relationship Id="rId7" Type="http://schemas.openxmlformats.org/officeDocument/2006/relationships/image" Target="../media/image8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9.jpeg"/><Relationship Id="rId11" Type="http://schemas.openxmlformats.org/officeDocument/2006/relationships/image" Target="../media/image84.png"/><Relationship Id="rId5" Type="http://schemas.openxmlformats.org/officeDocument/2006/relationships/image" Target="../media/image78.jpeg"/><Relationship Id="rId10" Type="http://schemas.openxmlformats.org/officeDocument/2006/relationships/image" Target="../media/image83.jpeg"/><Relationship Id="rId4" Type="http://schemas.openxmlformats.org/officeDocument/2006/relationships/image" Target="../media/image77.jpeg"/><Relationship Id="rId9" Type="http://schemas.openxmlformats.org/officeDocument/2006/relationships/image" Target="../media/image8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1"/>
          <p:cNvSpPr>
            <a:spLocks noGrp="1"/>
          </p:cNvSpPr>
          <p:nvPr>
            <p:ph sz="quarter" idx="4294967295"/>
          </p:nvPr>
        </p:nvSpPr>
        <p:spPr>
          <a:xfrm>
            <a:off x="323530" y="97585"/>
            <a:ext cx="8496944" cy="404813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ko-KR" altLang="en-US" sz="1800" dirty="0" err="1" smtClean="0"/>
              <a:t>웨이리</a:t>
            </a:r>
            <a:r>
              <a:rPr lang="ko-KR" altLang="en-US" sz="1800" dirty="0" smtClean="0"/>
              <a:t> </a:t>
            </a:r>
            <a:r>
              <a:rPr lang="en-US" altLang="ko-KR" sz="1800" dirty="0" smtClean="0"/>
              <a:t>3D </a:t>
            </a:r>
            <a:r>
              <a:rPr lang="ko-KR" altLang="en-US" sz="1800" dirty="0" smtClean="0"/>
              <a:t>프린트 </a:t>
            </a:r>
            <a:endParaRPr lang="ko-KR" altLang="en-US" sz="1800" dirty="0"/>
          </a:p>
        </p:txBody>
      </p:sp>
      <p:sp>
        <p:nvSpPr>
          <p:cNvPr id="4" name="내용 개체 틀 2"/>
          <p:cNvSpPr>
            <a:spLocks noGrp="1"/>
          </p:cNvSpPr>
          <p:nvPr>
            <p:ph sz="quarter" idx="4294967295"/>
          </p:nvPr>
        </p:nvSpPr>
        <p:spPr>
          <a:xfrm>
            <a:off x="395538" y="692696"/>
            <a:ext cx="8352928" cy="196993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 smtClean="0"/>
              <a:t>- 3D </a:t>
            </a:r>
            <a:r>
              <a:rPr lang="ko-KR" altLang="en-US" sz="1400" dirty="0" smtClean="0"/>
              <a:t>프린트 신발 제작 업체</a:t>
            </a:r>
            <a:endParaRPr lang="en-US" altLang="ko-KR" sz="1400" dirty="0" smtClean="0"/>
          </a:p>
          <a:p>
            <a:pPr marL="0" indent="0">
              <a:buNone/>
            </a:pPr>
            <a:r>
              <a:rPr lang="en-US" altLang="ko-KR" sz="1400" dirty="0" smtClean="0"/>
              <a:t>- </a:t>
            </a:r>
            <a:r>
              <a:rPr lang="ko-KR" altLang="en-US" sz="1400" dirty="0" smtClean="0"/>
              <a:t>프린터 방식을 기존 </a:t>
            </a:r>
            <a:r>
              <a:rPr lang="en-US" altLang="ko-KR" sz="1400" dirty="0" smtClean="0"/>
              <a:t>‘FDM’ </a:t>
            </a:r>
            <a:r>
              <a:rPr lang="ko-KR" altLang="en-US" sz="1400" dirty="0" smtClean="0"/>
              <a:t>장비에서 </a:t>
            </a:r>
            <a:r>
              <a:rPr lang="en-US" altLang="ko-KR" sz="1400" dirty="0" smtClean="0"/>
              <a:t>‘</a:t>
            </a:r>
            <a:r>
              <a:rPr lang="ko-KR" altLang="en-US" sz="1400" dirty="0" err="1" smtClean="0"/>
              <a:t>클리프</a:t>
            </a:r>
            <a:r>
              <a:rPr lang="en-US" altLang="ko-KR" sz="1400" dirty="0" smtClean="0"/>
              <a:t>’ </a:t>
            </a:r>
            <a:r>
              <a:rPr lang="ko-KR" altLang="en-US" sz="1400" dirty="0" smtClean="0"/>
              <a:t>장</a:t>
            </a:r>
            <a:r>
              <a:rPr lang="ko-KR" altLang="en-US" sz="1400" dirty="0"/>
              <a:t>비</a:t>
            </a:r>
            <a:r>
              <a:rPr lang="ko-KR" altLang="en-US" sz="1400" dirty="0" smtClean="0"/>
              <a:t>로 변경</a:t>
            </a:r>
            <a:endParaRPr lang="en-US" altLang="ko-KR" sz="1400" dirty="0" smtClean="0"/>
          </a:p>
          <a:p>
            <a:pPr marL="0" indent="0">
              <a:buNone/>
            </a:pPr>
            <a:r>
              <a:rPr lang="en-US" altLang="ko-KR" sz="1400" dirty="0" smtClean="0"/>
              <a:t>- </a:t>
            </a:r>
            <a:r>
              <a:rPr lang="ko-KR" altLang="en-US" sz="1400" dirty="0" smtClean="0"/>
              <a:t>소재 </a:t>
            </a:r>
            <a:r>
              <a:rPr lang="en-US" altLang="ko-KR" sz="1400" dirty="0" smtClean="0"/>
              <a:t>: P.U </a:t>
            </a:r>
            <a:r>
              <a:rPr lang="ko-KR" altLang="en-US" sz="1400" dirty="0" smtClean="0"/>
              <a:t>사용</a:t>
            </a:r>
            <a:endParaRPr lang="en-US" altLang="ko-KR" sz="1400" dirty="0" smtClean="0"/>
          </a:p>
          <a:p>
            <a:pPr marL="0" indent="0">
              <a:buNone/>
            </a:pPr>
            <a:r>
              <a:rPr lang="en-US" altLang="ko-KR" sz="1400" dirty="0" smtClean="0"/>
              <a:t>- </a:t>
            </a:r>
            <a:r>
              <a:rPr lang="ko-KR" altLang="en-US" sz="1400" dirty="0" smtClean="0"/>
              <a:t>신발 스타일 하루 </a:t>
            </a:r>
            <a:r>
              <a:rPr lang="en-US" altLang="ko-KR" sz="1400" dirty="0" smtClean="0"/>
              <a:t>5</a:t>
            </a:r>
            <a:r>
              <a:rPr lang="ko-KR" altLang="en-US" sz="1400" dirty="0" smtClean="0"/>
              <a:t>족 출력 가능 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일 </a:t>
            </a:r>
            <a:r>
              <a:rPr lang="en-US" altLang="ko-KR" sz="1400" dirty="0" smtClean="0"/>
              <a:t>600</a:t>
            </a:r>
            <a:r>
              <a:rPr lang="ko-KR" altLang="en-US" sz="1400" dirty="0" smtClean="0"/>
              <a:t>족 생산 </a:t>
            </a:r>
            <a:r>
              <a:rPr lang="en-US" altLang="ko-KR" sz="1400" dirty="0" smtClean="0"/>
              <a:t>CAPA) : 120</a:t>
            </a:r>
            <a:r>
              <a:rPr lang="ko-KR" altLang="en-US" sz="1400" dirty="0" smtClean="0"/>
              <a:t>대 장비 보유</a:t>
            </a:r>
            <a:endParaRPr lang="en-US" altLang="ko-KR" sz="1400" dirty="0" smtClean="0"/>
          </a:p>
          <a:p>
            <a:pPr marL="0" indent="0">
              <a:buNone/>
            </a:pPr>
            <a:r>
              <a:rPr lang="en-US" altLang="ko-KR" sz="1400" dirty="0" smtClean="0"/>
              <a:t>- 3D </a:t>
            </a:r>
            <a:r>
              <a:rPr lang="ko-KR" altLang="en-US" sz="1400" dirty="0" smtClean="0"/>
              <a:t>모델링 제공 후 </a:t>
            </a:r>
            <a:r>
              <a:rPr lang="ko-KR" altLang="en-US" sz="1400" dirty="0" err="1" smtClean="0"/>
              <a:t>한달안에</a:t>
            </a:r>
            <a:r>
              <a:rPr lang="ko-KR" altLang="en-US" sz="1400" dirty="0" smtClean="0"/>
              <a:t> 샘플 </a:t>
            </a:r>
            <a:r>
              <a:rPr lang="ko-KR" altLang="en-US" sz="1400" dirty="0" err="1" smtClean="0"/>
              <a:t>프린터물</a:t>
            </a:r>
            <a:r>
              <a:rPr lang="ko-KR" altLang="en-US" sz="1400" dirty="0" smtClean="0"/>
              <a:t> 완료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smtClean="0"/>
              <a:t>- </a:t>
            </a:r>
            <a:r>
              <a:rPr lang="ko-KR" altLang="en-US" sz="1400" dirty="0" err="1" smtClean="0"/>
              <a:t>스케쳐스</a:t>
            </a:r>
            <a:r>
              <a:rPr lang="en-US" altLang="ko-KR" sz="1400" dirty="0" smtClean="0"/>
              <a:t>, </a:t>
            </a:r>
            <a:r>
              <a:rPr lang="ko-KR" altLang="en-US" sz="1400" dirty="0" err="1" smtClean="0"/>
              <a:t>아식스</a:t>
            </a:r>
            <a:r>
              <a:rPr lang="en-US" altLang="ko-KR" sz="1400" dirty="0" smtClean="0"/>
              <a:t>, </a:t>
            </a:r>
            <a:r>
              <a:rPr lang="ko-KR" altLang="en-US" sz="1400" dirty="0" err="1" smtClean="0"/>
              <a:t>브룩스</a:t>
            </a:r>
            <a:r>
              <a:rPr lang="ko-KR" altLang="en-US" sz="1400" dirty="0" smtClean="0"/>
              <a:t> 브랜드가 가장 많이 활용</a:t>
            </a:r>
            <a:endParaRPr lang="en-US" altLang="ko-KR" sz="1400" dirty="0" smtClean="0"/>
          </a:p>
          <a:p>
            <a:pPr marL="0" indent="0">
              <a:buNone/>
            </a:pPr>
            <a:r>
              <a:rPr lang="en-US" altLang="ko-KR" sz="1400" dirty="0" smtClean="0"/>
              <a:t>- ‘27SS </a:t>
            </a:r>
            <a:r>
              <a:rPr lang="ko-KR" altLang="en-US" sz="1400" dirty="0" err="1" smtClean="0"/>
              <a:t>다이나핏</a:t>
            </a:r>
            <a:r>
              <a:rPr lang="ko-KR" altLang="en-US" sz="1400" dirty="0" smtClean="0"/>
              <a:t> 덮개 샌달 모델 미팅</a:t>
            </a:r>
            <a:endParaRPr lang="ko-KR" altLang="en-US" sz="1400" dirty="0"/>
          </a:p>
        </p:txBody>
      </p:sp>
      <p:pic>
        <p:nvPicPr>
          <p:cNvPr id="7" name="Picture 5" descr="C:\Users\USER\Desktop\중국출장서류(26.05.12)\중국 출장 사진\20260512_154432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93" r="12566" b="8346"/>
          <a:stretch/>
        </p:blipFill>
        <p:spPr bwMode="auto">
          <a:xfrm>
            <a:off x="500601" y="4729733"/>
            <a:ext cx="2414167" cy="1435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USER\Desktop\중국출장서류(26.05.12)\중국 출장 사진\20260512_154448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16" t="5450" r="7211" b="9724"/>
          <a:stretch/>
        </p:blipFill>
        <p:spPr bwMode="auto">
          <a:xfrm rot="10800000">
            <a:off x="3137893" y="4725144"/>
            <a:ext cx="2658241" cy="144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7" descr="C:\Users\USER\Desktop\중국출장서류(26.05.12)\중국 출장 사진\20260512_154708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54" r="12378"/>
          <a:stretch/>
        </p:blipFill>
        <p:spPr bwMode="auto">
          <a:xfrm>
            <a:off x="6037704" y="2925343"/>
            <a:ext cx="2569166" cy="1583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C:\Users\USER\Desktop\중국출장서류(26.05.12)\중국 출장 사진\20260512_154502.jp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90" r="5369" b="7885"/>
          <a:stretch/>
        </p:blipFill>
        <p:spPr bwMode="auto">
          <a:xfrm>
            <a:off x="3137894" y="2929657"/>
            <a:ext cx="2658241" cy="1579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직선 연결선 10"/>
          <p:cNvCxnSpPr/>
          <p:nvPr/>
        </p:nvCxnSpPr>
        <p:spPr>
          <a:xfrm>
            <a:off x="0" y="502398"/>
            <a:ext cx="9144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050" name="Picture 2" descr="C:\Users\USER\Desktop\중국출장서류(26.05.12)\중국 출장 사진\20260512_154741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3644" y="4729733"/>
            <a:ext cx="2553226" cy="1454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601" y="2929657"/>
            <a:ext cx="2418530" cy="1579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99626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/>
          <p:cNvSpPr txBox="1">
            <a:spLocks/>
          </p:cNvSpPr>
          <p:nvPr/>
        </p:nvSpPr>
        <p:spPr>
          <a:xfrm>
            <a:off x="323530" y="97585"/>
            <a:ext cx="8496944" cy="404813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0" lang="ko-KR" altLang="en-US" sz="1800" dirty="0" err="1" smtClean="0"/>
              <a:t>안유안</a:t>
            </a:r>
            <a:r>
              <a:rPr kumimoji="0" lang="ko-KR" altLang="en-US" sz="1800" dirty="0" smtClean="0"/>
              <a:t> </a:t>
            </a:r>
            <a:r>
              <a:rPr kumimoji="0" lang="en-US" altLang="ko-KR" sz="1800" dirty="0" smtClean="0"/>
              <a:t>– </a:t>
            </a:r>
            <a:r>
              <a:rPr kumimoji="0" lang="ko-KR" altLang="en-US" sz="1800" dirty="0" err="1" smtClean="0"/>
              <a:t>몰드</a:t>
            </a:r>
            <a:r>
              <a:rPr kumimoji="0" lang="ko-KR" altLang="en-US" sz="1800" dirty="0" smtClean="0"/>
              <a:t> 업체</a:t>
            </a:r>
          </a:p>
          <a:p>
            <a:pPr marL="0" indent="0">
              <a:buNone/>
            </a:pPr>
            <a:endParaRPr kumimoji="0" lang="en-US" altLang="ko-KR" sz="1800" dirty="0" smtClean="0"/>
          </a:p>
        </p:txBody>
      </p:sp>
      <p:cxnSp>
        <p:nvCxnSpPr>
          <p:cNvPr id="3" name="직선 연결선 2"/>
          <p:cNvCxnSpPr/>
          <p:nvPr/>
        </p:nvCxnSpPr>
        <p:spPr>
          <a:xfrm>
            <a:off x="0" y="502398"/>
            <a:ext cx="9144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180" name="Picture 108" descr="C:\Users\USER\Desktop\중국출장서류(26.05.12)\중국 출장 사진\20260513_092243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97" r="17304"/>
          <a:stretch/>
        </p:blipFill>
        <p:spPr bwMode="auto">
          <a:xfrm>
            <a:off x="251520" y="3145794"/>
            <a:ext cx="1944214" cy="1291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7" name="Picture 115" descr="C:\Users\USER\Desktop\중국출장서류(26.05.12)\중국 출장 사진\20260513_100822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191" y="3140968"/>
            <a:ext cx="2034505" cy="1296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9" name="Picture 117" descr="C:\Users\USER\Desktop\중국출장서류(26.05.12)\중국 출장 사진\20260513_101350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5" y="3151286"/>
            <a:ext cx="2088232" cy="1286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3" name="Picture 121" descr="C:\Users\USER\Desktop\중국출장서류(26.05.12)\중국 출장 사진\20260513_101725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3873" y="4825426"/>
            <a:ext cx="2061045" cy="1238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0" name="Picture 128" descr="C:\Users\USER\Desktop\중국출장서류(26.05.12)\중국 출장 사진\20260513_102405.jpg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3" t="12907" r="29511"/>
          <a:stretch/>
        </p:blipFill>
        <p:spPr bwMode="auto">
          <a:xfrm>
            <a:off x="2303593" y="4824924"/>
            <a:ext cx="2005540" cy="123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4" name="Picture 112" descr="C:\Users\USER\Desktop\중국출장서류(26.05.12)\중국 출장 사진\20260513_100537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297" y="3151286"/>
            <a:ext cx="1979182" cy="1286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2" name="내용 개체 틀 2"/>
          <p:cNvSpPr txBox="1">
            <a:spLocks/>
          </p:cNvSpPr>
          <p:nvPr/>
        </p:nvSpPr>
        <p:spPr>
          <a:xfrm>
            <a:off x="352495" y="764704"/>
            <a:ext cx="8352928" cy="216024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0" lang="en-US" altLang="ko-KR" sz="1400" dirty="0" smtClean="0"/>
              <a:t>- </a:t>
            </a:r>
            <a:r>
              <a:rPr kumimoji="0" lang="ko-KR" altLang="en-US" sz="1400" dirty="0" smtClean="0"/>
              <a:t>안타 메인 공장 중 한곳 </a:t>
            </a:r>
            <a:r>
              <a:rPr kumimoji="0" lang="en-US" altLang="ko-KR" sz="1400" dirty="0"/>
              <a:t>(</a:t>
            </a:r>
            <a:r>
              <a:rPr kumimoji="0" lang="ko-KR" altLang="en-US" sz="1400" dirty="0"/>
              <a:t>설립연도 </a:t>
            </a:r>
            <a:r>
              <a:rPr kumimoji="0" lang="en-US" altLang="ko-KR" sz="1400" dirty="0"/>
              <a:t>: 2020</a:t>
            </a:r>
            <a:r>
              <a:rPr kumimoji="0" lang="ko-KR" altLang="en-US" sz="1400" dirty="0"/>
              <a:t>년 </a:t>
            </a:r>
            <a:r>
              <a:rPr kumimoji="0" lang="en-US" altLang="ko-KR" sz="1400" dirty="0"/>
              <a:t>10</a:t>
            </a:r>
            <a:r>
              <a:rPr kumimoji="0" lang="ko-KR" altLang="en-US" sz="1400" dirty="0" smtClean="0"/>
              <a:t>월</a:t>
            </a:r>
            <a:r>
              <a:rPr kumimoji="0" lang="en-US" altLang="ko-KR" sz="1400" dirty="0" smtClean="0"/>
              <a:t>)</a:t>
            </a:r>
          </a:p>
          <a:p>
            <a:pPr marL="0" indent="0">
              <a:buNone/>
            </a:pPr>
            <a:r>
              <a:rPr kumimoji="0" lang="en-US" altLang="ko-KR" sz="1400" dirty="0" smtClean="0"/>
              <a:t>- 2D,3D </a:t>
            </a:r>
            <a:r>
              <a:rPr kumimoji="0" lang="ko-KR" altLang="en-US" sz="1400" dirty="0" smtClean="0"/>
              <a:t>근무인원 </a:t>
            </a:r>
            <a:r>
              <a:rPr kumimoji="0" lang="en-US" altLang="ko-KR" sz="1400" dirty="0" smtClean="0"/>
              <a:t>: 100</a:t>
            </a:r>
            <a:r>
              <a:rPr kumimoji="0" lang="ko-KR" altLang="en-US" sz="1400" dirty="0" smtClean="0"/>
              <a:t>명 정도</a:t>
            </a:r>
            <a:r>
              <a:rPr kumimoji="0" lang="en-US" altLang="ko-KR" sz="1400" dirty="0" smtClean="0"/>
              <a:t>, </a:t>
            </a:r>
            <a:r>
              <a:rPr kumimoji="0" lang="ko-KR" altLang="en-US" sz="1400" dirty="0" smtClean="0"/>
              <a:t>월평균 </a:t>
            </a:r>
            <a:r>
              <a:rPr kumimoji="0" lang="ko-KR" altLang="en-US" sz="1400" dirty="0" err="1" smtClean="0"/>
              <a:t>금형</a:t>
            </a:r>
            <a:r>
              <a:rPr kumimoji="0" lang="ko-KR" altLang="en-US" sz="1400" dirty="0" smtClean="0"/>
              <a:t> 제작 </a:t>
            </a:r>
            <a:r>
              <a:rPr kumimoji="0" lang="en-US" altLang="ko-KR" sz="1400" dirty="0" smtClean="0"/>
              <a:t>: 850st </a:t>
            </a:r>
            <a:r>
              <a:rPr kumimoji="0" lang="ko-KR" altLang="en-US" sz="1400" dirty="0" smtClean="0"/>
              <a:t>정도</a:t>
            </a:r>
            <a:r>
              <a:rPr kumimoji="0" lang="en-US" altLang="ko-KR" sz="1400" dirty="0" smtClean="0"/>
              <a:t>(</a:t>
            </a:r>
            <a:r>
              <a:rPr kumimoji="0" lang="ko-KR" altLang="en-US" sz="1400" dirty="0" smtClean="0"/>
              <a:t>년간 </a:t>
            </a:r>
            <a:r>
              <a:rPr kumimoji="0" lang="en-US" altLang="ko-KR" sz="1400" dirty="0" smtClean="0"/>
              <a:t>10,000st)</a:t>
            </a:r>
          </a:p>
          <a:p>
            <a:pPr marL="0" indent="0">
              <a:buNone/>
            </a:pPr>
            <a:r>
              <a:rPr kumimoji="0" lang="en-US" altLang="ko-KR" sz="1400" dirty="0" smtClean="0"/>
              <a:t>- </a:t>
            </a:r>
            <a:r>
              <a:rPr kumimoji="0" lang="ko-KR" altLang="en-US" sz="1400" dirty="0" smtClean="0"/>
              <a:t>연간 매출액 약 </a:t>
            </a:r>
            <a:r>
              <a:rPr kumimoji="0" lang="en-US" altLang="ko-KR" sz="1400" dirty="0" smtClean="0"/>
              <a:t>170</a:t>
            </a:r>
            <a:r>
              <a:rPr kumimoji="0" lang="ko-KR" altLang="en-US" sz="1400" dirty="0" smtClean="0"/>
              <a:t>억</a:t>
            </a:r>
            <a:endParaRPr kumimoji="0" lang="en-US" altLang="ko-KR" sz="1400" dirty="0" smtClean="0"/>
          </a:p>
          <a:p>
            <a:pPr marL="0" indent="0">
              <a:buNone/>
            </a:pPr>
            <a:r>
              <a:rPr kumimoji="0" lang="en-US" altLang="ko-KR" sz="1400" dirty="0" smtClean="0"/>
              <a:t>- 3D PRINT MACHINE (SLA </a:t>
            </a:r>
            <a:r>
              <a:rPr kumimoji="0" lang="ko-KR" altLang="en-US" sz="1400" dirty="0" smtClean="0"/>
              <a:t>방식</a:t>
            </a:r>
            <a:r>
              <a:rPr kumimoji="0" lang="en-US" altLang="ko-KR" sz="1400" dirty="0" smtClean="0"/>
              <a:t>) : 8</a:t>
            </a:r>
            <a:r>
              <a:rPr kumimoji="0" lang="ko-KR" altLang="en-US" sz="1400" dirty="0" smtClean="0"/>
              <a:t>대</a:t>
            </a:r>
            <a:endParaRPr kumimoji="0" lang="en-US" altLang="ko-KR" sz="1400" dirty="0" smtClean="0"/>
          </a:p>
          <a:p>
            <a:pPr marL="0" indent="0">
              <a:buNone/>
            </a:pPr>
            <a:r>
              <a:rPr kumimoji="0" lang="en-US" altLang="ko-KR" sz="1400" dirty="0" smtClean="0"/>
              <a:t>- 3D METAL PRINT MACHINE : 4</a:t>
            </a:r>
            <a:r>
              <a:rPr kumimoji="0" lang="ko-KR" altLang="en-US" sz="1400" dirty="0" smtClean="0"/>
              <a:t>대</a:t>
            </a:r>
            <a:r>
              <a:rPr kumimoji="0" lang="en-US" altLang="ko-KR" sz="1400" dirty="0" smtClean="0"/>
              <a:t>( </a:t>
            </a:r>
            <a:r>
              <a:rPr kumimoji="0" lang="ko-KR" altLang="en-US" sz="1400" dirty="0" smtClean="0"/>
              <a:t>지속적으로 추가 도입 계획</a:t>
            </a:r>
            <a:r>
              <a:rPr kumimoji="0" lang="en-US" altLang="ko-KR" sz="1400" dirty="0" smtClean="0"/>
              <a:t>)</a:t>
            </a:r>
          </a:p>
          <a:p>
            <a:pPr marL="0" indent="0">
              <a:buNone/>
            </a:pPr>
            <a:r>
              <a:rPr kumimoji="0" lang="en-US" altLang="ko-KR" sz="1400" dirty="0" smtClean="0"/>
              <a:t>- </a:t>
            </a:r>
            <a:r>
              <a:rPr kumimoji="0" lang="ko-KR" altLang="en-US" sz="1400" dirty="0" smtClean="0"/>
              <a:t>자체 테스트 설비 보유</a:t>
            </a:r>
            <a:r>
              <a:rPr kumimoji="0" lang="en-US" altLang="ko-KR" sz="1400" dirty="0"/>
              <a:t> </a:t>
            </a:r>
            <a:r>
              <a:rPr kumimoji="0" lang="en-US" altLang="ko-KR" sz="1400" dirty="0" smtClean="0"/>
              <a:t>( O/S + P/L + I.P )</a:t>
            </a:r>
          </a:p>
          <a:p>
            <a:pPr marL="0" indent="0">
              <a:buNone/>
            </a:pPr>
            <a:r>
              <a:rPr kumimoji="0" lang="en-US" altLang="ko-KR" sz="1400" dirty="0" smtClean="0"/>
              <a:t>- </a:t>
            </a:r>
            <a:r>
              <a:rPr kumimoji="0" lang="ko-KR" altLang="en-US" sz="1400" dirty="0" err="1" smtClean="0"/>
              <a:t>다이나핏</a:t>
            </a:r>
            <a:r>
              <a:rPr kumimoji="0" lang="en-US" altLang="ko-KR" sz="1400" dirty="0" smtClean="0"/>
              <a:t>(</a:t>
            </a:r>
            <a:r>
              <a:rPr kumimoji="0" lang="ko-KR" altLang="en-US" sz="1400" dirty="0" smtClean="0"/>
              <a:t>중국</a:t>
            </a:r>
            <a:r>
              <a:rPr kumimoji="0" lang="en-US" altLang="ko-KR" sz="1400" dirty="0" smtClean="0"/>
              <a:t>)</a:t>
            </a:r>
            <a:r>
              <a:rPr kumimoji="0" lang="ko-KR" altLang="en-US" sz="1400" dirty="0" smtClean="0"/>
              <a:t> 주력 </a:t>
            </a:r>
            <a:r>
              <a:rPr kumimoji="0" lang="ko-KR" altLang="en-US" sz="1400" dirty="0" err="1" smtClean="0"/>
              <a:t>몰드</a:t>
            </a:r>
            <a:r>
              <a:rPr kumimoji="0" lang="ko-KR" altLang="en-US" sz="1400" dirty="0" smtClean="0"/>
              <a:t> 공장</a:t>
            </a:r>
            <a:endParaRPr kumimoji="0" lang="ko-KR" altLang="en-US" sz="1400" dirty="0"/>
          </a:p>
        </p:txBody>
      </p:sp>
      <p:sp>
        <p:nvSpPr>
          <p:cNvPr id="163" name="내용 개체 틀 2"/>
          <p:cNvSpPr txBox="1">
            <a:spLocks/>
          </p:cNvSpPr>
          <p:nvPr/>
        </p:nvSpPr>
        <p:spPr>
          <a:xfrm>
            <a:off x="2418641" y="6093296"/>
            <a:ext cx="1685152" cy="3613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1400" b="1" kern="1200" baseline="0" smtClean="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(</a:t>
            </a:r>
            <a:r>
              <a:rPr lang="ko-KR" altLang="en-US" dirty="0" err="1" smtClean="0"/>
              <a:t>금형</a:t>
            </a:r>
            <a:r>
              <a:rPr lang="ko-KR" altLang="en-US" dirty="0" smtClean="0"/>
              <a:t> </a:t>
            </a:r>
            <a:r>
              <a:rPr lang="en-US" altLang="ko-KR" dirty="0" smtClean="0"/>
              <a:t>3D </a:t>
            </a:r>
            <a:r>
              <a:rPr lang="ko-KR" altLang="en-US" dirty="0" err="1" smtClean="0"/>
              <a:t>스캔실</a:t>
            </a:r>
            <a:r>
              <a:rPr lang="ko-KR" altLang="en-US" dirty="0" smtClean="0"/>
              <a:t> 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64" name="내용 개체 틀 2"/>
          <p:cNvSpPr txBox="1">
            <a:spLocks/>
          </p:cNvSpPr>
          <p:nvPr/>
        </p:nvSpPr>
        <p:spPr>
          <a:xfrm>
            <a:off x="2771795" y="4464883"/>
            <a:ext cx="1584177" cy="360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1400" b="1" kern="1200" baseline="0" smtClean="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( 2D, 3D </a:t>
            </a:r>
            <a:r>
              <a:rPr lang="ko-KR" altLang="en-US" dirty="0" smtClean="0"/>
              <a:t>설계실 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65" name="내용 개체 틀 2"/>
          <p:cNvSpPr txBox="1">
            <a:spLocks/>
          </p:cNvSpPr>
          <p:nvPr/>
        </p:nvSpPr>
        <p:spPr>
          <a:xfrm>
            <a:off x="5076053" y="4464883"/>
            <a:ext cx="1440160" cy="360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1400" b="1" kern="1200" baseline="0" smtClean="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( </a:t>
            </a:r>
            <a:r>
              <a:rPr lang="ko-KR" altLang="en-US" dirty="0" smtClean="0"/>
              <a:t>게이지 </a:t>
            </a:r>
            <a:r>
              <a:rPr lang="ko-KR" altLang="en-US" dirty="0" err="1" smtClean="0"/>
              <a:t>컷팅</a:t>
            </a:r>
            <a:r>
              <a:rPr lang="ko-KR" altLang="en-US" dirty="0" smtClean="0"/>
              <a:t> 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66" name="내용 개체 틀 2"/>
          <p:cNvSpPr txBox="1">
            <a:spLocks/>
          </p:cNvSpPr>
          <p:nvPr/>
        </p:nvSpPr>
        <p:spPr>
          <a:xfrm>
            <a:off x="4895881" y="6144515"/>
            <a:ext cx="2035128" cy="476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1400" b="1" kern="1200" baseline="0" smtClean="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( 3D Metal</a:t>
            </a:r>
            <a:r>
              <a:rPr lang="ko-KR" altLang="en-US" dirty="0" smtClean="0"/>
              <a:t> </a:t>
            </a:r>
            <a:r>
              <a:rPr lang="en-US" altLang="ko-KR" dirty="0" smtClean="0"/>
              <a:t>PRINTER)</a:t>
            </a:r>
            <a:endParaRPr lang="ko-KR" altLang="en-US" dirty="0"/>
          </a:p>
        </p:txBody>
      </p:sp>
      <p:sp>
        <p:nvSpPr>
          <p:cNvPr id="167" name="내용 개체 틀 2"/>
          <p:cNvSpPr txBox="1">
            <a:spLocks/>
          </p:cNvSpPr>
          <p:nvPr/>
        </p:nvSpPr>
        <p:spPr>
          <a:xfrm>
            <a:off x="6953253" y="4464883"/>
            <a:ext cx="1867216" cy="360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1400" b="1" kern="1200" baseline="0" smtClean="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( 3D PRINTER : SLA)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0387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/>
          <p:cNvSpPr txBox="1">
            <a:spLocks/>
          </p:cNvSpPr>
          <p:nvPr/>
        </p:nvSpPr>
        <p:spPr>
          <a:xfrm>
            <a:off x="323530" y="97585"/>
            <a:ext cx="8496944" cy="404813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0" lang="ko-KR" altLang="en-US" sz="1800" dirty="0" err="1" smtClean="0"/>
              <a:t>안유안</a:t>
            </a:r>
            <a:r>
              <a:rPr kumimoji="0" lang="ko-KR" altLang="en-US" sz="1800" dirty="0" smtClean="0"/>
              <a:t> </a:t>
            </a:r>
            <a:r>
              <a:rPr kumimoji="0" lang="en-US" altLang="ko-KR" sz="1800" dirty="0" smtClean="0"/>
              <a:t>– </a:t>
            </a:r>
            <a:r>
              <a:rPr kumimoji="0" lang="ko-KR" altLang="en-US" sz="1800" dirty="0" err="1" smtClean="0"/>
              <a:t>몰드</a:t>
            </a:r>
            <a:r>
              <a:rPr kumimoji="0" lang="ko-KR" altLang="en-US" sz="1800" dirty="0" smtClean="0"/>
              <a:t> 업체 </a:t>
            </a:r>
            <a:r>
              <a:rPr kumimoji="0" lang="en-US" altLang="ko-KR" sz="1800" dirty="0" smtClean="0"/>
              <a:t>(</a:t>
            </a:r>
            <a:r>
              <a:rPr kumimoji="0" lang="ko-KR" altLang="en-US" sz="1800" dirty="0" smtClean="0"/>
              <a:t>현장</a:t>
            </a:r>
            <a:r>
              <a:rPr kumimoji="0" lang="en-US" altLang="ko-KR" sz="1800" dirty="0" smtClean="0"/>
              <a:t>)</a:t>
            </a:r>
            <a:endParaRPr kumimoji="0" lang="ko-KR" altLang="en-US" sz="1800" dirty="0" smtClean="0"/>
          </a:p>
          <a:p>
            <a:pPr marL="0" indent="0">
              <a:buNone/>
            </a:pPr>
            <a:endParaRPr kumimoji="0" lang="en-US" altLang="ko-KR" sz="1800" dirty="0" smtClean="0"/>
          </a:p>
        </p:txBody>
      </p:sp>
      <p:cxnSp>
        <p:nvCxnSpPr>
          <p:cNvPr id="3" name="직선 연결선 2"/>
          <p:cNvCxnSpPr/>
          <p:nvPr/>
        </p:nvCxnSpPr>
        <p:spPr>
          <a:xfrm>
            <a:off x="0" y="502398"/>
            <a:ext cx="9144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204" name="Picture 132" descr="C:\Users\USER\Desktop\중국출장서류(26.05.12)\중국 출장 사진\20260513_102619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148" y="3717032"/>
            <a:ext cx="2520280" cy="1135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5" name="Picture 133" descr="C:\Users\USER\Desktop\중국출장서류(26.05.12)\중국 출장 사진\20260513_102653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3359" y="3717032"/>
            <a:ext cx="2520280" cy="1135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6" name="Picture 134" descr="C:\Users\USER\Desktop\중국출장서류(26.05.12)\중국 출장 사진\20260513_102703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391" y="764704"/>
            <a:ext cx="2516004" cy="1135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7" name="Picture 135" descr="C:\Users\USER\Desktop\중국출장서류(26.05.12)\중국 출장 사진\20260513_102706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6262" y="3717032"/>
            <a:ext cx="2520280" cy="1135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8" name="Picture 136" descr="C:\Users\USER\Desktop\중국출장서류(26.05.12)\중국 출장 사진\20260513_102751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5157192"/>
            <a:ext cx="2529640" cy="1153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9" name="Picture 137" descr="C:\Users\USER\Desktop\중국출장서류(26.05.12)\중국 출장 사진\20260513_102757.jpg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921"/>
          <a:stretch/>
        </p:blipFill>
        <p:spPr bwMode="auto">
          <a:xfrm>
            <a:off x="3337820" y="5155502"/>
            <a:ext cx="2507478" cy="1155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8" name="Picture 146" descr="C:\Users\USER\Desktop\중국출장서류(26.05.12)\중국 출장 사진\20260513_103553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904" y="764820"/>
            <a:ext cx="2520280" cy="1135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0" name="Picture 148" descr="C:\Users\USER\Desktop\중국출장서류(26.05.12)\중국 출장 사진\20260513_103626.jp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5018" y="764820"/>
            <a:ext cx="2520280" cy="1131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1" name="Picture 149" descr="C:\Users\USER\Desktop\중국출장서류(26.05.12)\중국 출장 사진\20260513_103744.jp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251360"/>
            <a:ext cx="2529640" cy="1139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3" name="Picture 151" descr="C:\Users\USER\Desktop\중국출장서류(26.05.12)\중국 출장 사진\20260513_103935.jp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7820" y="2251360"/>
            <a:ext cx="2507478" cy="1139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7" name="Picture 155" descr="C:\Users\USER\Desktop\중국출장서류(26.05.12)\중국 출장 사진\20260513_104137.jp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2110" y="2251360"/>
            <a:ext cx="2519428" cy="1139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내용 개체 틀 2"/>
          <p:cNvSpPr txBox="1">
            <a:spLocks/>
          </p:cNvSpPr>
          <p:nvPr/>
        </p:nvSpPr>
        <p:spPr>
          <a:xfrm>
            <a:off x="3923927" y="3367640"/>
            <a:ext cx="1584177" cy="360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1400" b="1" kern="1200" baseline="0" smtClean="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( O/S PRESS )</a:t>
            </a:r>
            <a:endParaRPr lang="ko-KR" altLang="en-US" dirty="0"/>
          </a:p>
        </p:txBody>
      </p:sp>
      <p:sp>
        <p:nvSpPr>
          <p:cNvPr id="25" name="내용 개체 틀 2"/>
          <p:cNvSpPr txBox="1">
            <a:spLocks/>
          </p:cNvSpPr>
          <p:nvPr/>
        </p:nvSpPr>
        <p:spPr>
          <a:xfrm>
            <a:off x="1115615" y="3373450"/>
            <a:ext cx="1584177" cy="360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1400" b="1" kern="1200" baseline="0" smtClean="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( I.P PRESS )</a:t>
            </a:r>
            <a:endParaRPr lang="ko-KR" altLang="en-US" dirty="0"/>
          </a:p>
        </p:txBody>
      </p:sp>
      <p:sp>
        <p:nvSpPr>
          <p:cNvPr id="26" name="내용 개체 틀 2"/>
          <p:cNvSpPr txBox="1">
            <a:spLocks/>
          </p:cNvSpPr>
          <p:nvPr/>
        </p:nvSpPr>
        <p:spPr>
          <a:xfrm>
            <a:off x="6732240" y="3367640"/>
            <a:ext cx="1584177" cy="360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1400" b="1" kern="1200" baseline="0" smtClean="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( P/L PRESS )</a:t>
            </a:r>
            <a:endParaRPr lang="ko-KR" altLang="en-US" dirty="0"/>
          </a:p>
        </p:txBody>
      </p:sp>
      <p:sp>
        <p:nvSpPr>
          <p:cNvPr id="27" name="내용 개체 틀 2"/>
          <p:cNvSpPr txBox="1">
            <a:spLocks/>
          </p:cNvSpPr>
          <p:nvPr/>
        </p:nvSpPr>
        <p:spPr>
          <a:xfrm>
            <a:off x="6775369" y="1899946"/>
            <a:ext cx="1584177" cy="360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1400" b="1" kern="1200" baseline="0" smtClean="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( CNC </a:t>
            </a:r>
            <a:r>
              <a:rPr lang="ko-KR" altLang="en-US" dirty="0" smtClean="0"/>
              <a:t>장비 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28" name="내용 개체 틀 2"/>
          <p:cNvSpPr txBox="1">
            <a:spLocks/>
          </p:cNvSpPr>
          <p:nvPr/>
        </p:nvSpPr>
        <p:spPr>
          <a:xfrm>
            <a:off x="1115615" y="1899946"/>
            <a:ext cx="1584177" cy="360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1400" b="1" kern="1200" baseline="0" smtClean="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( CNC </a:t>
            </a:r>
            <a:r>
              <a:rPr lang="ko-KR" altLang="en-US" dirty="0" smtClean="0"/>
              <a:t>가공 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29" name="내용 개체 틀 2"/>
          <p:cNvSpPr txBox="1">
            <a:spLocks/>
          </p:cNvSpPr>
          <p:nvPr/>
        </p:nvSpPr>
        <p:spPr>
          <a:xfrm>
            <a:off x="3978683" y="1899946"/>
            <a:ext cx="1584177" cy="360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1400" b="1" kern="1200" baseline="0" smtClean="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( CNC </a:t>
            </a:r>
            <a:r>
              <a:rPr lang="ko-KR" altLang="en-US" dirty="0" smtClean="0"/>
              <a:t>장비 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390" y="5024802"/>
            <a:ext cx="2507249" cy="1155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내용 개체 틀 2"/>
          <p:cNvSpPr txBox="1">
            <a:spLocks/>
          </p:cNvSpPr>
          <p:nvPr/>
        </p:nvSpPr>
        <p:spPr>
          <a:xfrm>
            <a:off x="6948263" y="6180313"/>
            <a:ext cx="936105" cy="360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1400" b="1" kern="1200" baseline="0" smtClean="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( BUYER )</a:t>
            </a:r>
            <a:endParaRPr lang="ko-KR" altLang="en-US" dirty="0"/>
          </a:p>
        </p:txBody>
      </p:sp>
      <p:sp>
        <p:nvSpPr>
          <p:cNvPr id="23" name="내용 개체 틀 2"/>
          <p:cNvSpPr txBox="1">
            <a:spLocks/>
          </p:cNvSpPr>
          <p:nvPr/>
        </p:nvSpPr>
        <p:spPr>
          <a:xfrm>
            <a:off x="1331640" y="4834655"/>
            <a:ext cx="792088" cy="360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1400" b="1" kern="1200" baseline="0" smtClean="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( </a:t>
            </a:r>
            <a:r>
              <a:rPr lang="ko-KR" altLang="en-US" dirty="0" smtClean="0"/>
              <a:t>현장 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8799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/>
          <p:cNvSpPr txBox="1">
            <a:spLocks/>
          </p:cNvSpPr>
          <p:nvPr/>
        </p:nvSpPr>
        <p:spPr>
          <a:xfrm>
            <a:off x="323530" y="97585"/>
            <a:ext cx="8496944" cy="404813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0" lang="ko-KR" altLang="en-US" sz="1800" smtClean="0"/>
              <a:t>용성 </a:t>
            </a:r>
            <a:r>
              <a:rPr kumimoji="0" lang="en-US" altLang="ko-KR" sz="1800" dirty="0" smtClean="0"/>
              <a:t>– </a:t>
            </a:r>
            <a:r>
              <a:rPr kumimoji="0" lang="ko-KR" altLang="en-US" sz="1800" dirty="0" err="1" smtClean="0"/>
              <a:t>몰드</a:t>
            </a:r>
            <a:r>
              <a:rPr kumimoji="0" lang="ko-KR" altLang="en-US" sz="1800" dirty="0" smtClean="0"/>
              <a:t> 업체</a:t>
            </a:r>
          </a:p>
          <a:p>
            <a:pPr marL="0" indent="0">
              <a:buNone/>
            </a:pPr>
            <a:endParaRPr kumimoji="0" lang="en-US" altLang="ko-KR" sz="1800" dirty="0" smtClean="0"/>
          </a:p>
        </p:txBody>
      </p:sp>
      <p:cxnSp>
        <p:nvCxnSpPr>
          <p:cNvPr id="3" name="직선 연결선 2"/>
          <p:cNvCxnSpPr/>
          <p:nvPr/>
        </p:nvCxnSpPr>
        <p:spPr>
          <a:xfrm>
            <a:off x="0" y="502398"/>
            <a:ext cx="9144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4" name="내용 개체 틀 2"/>
          <p:cNvSpPr txBox="1">
            <a:spLocks/>
          </p:cNvSpPr>
          <p:nvPr/>
        </p:nvSpPr>
        <p:spPr>
          <a:xfrm>
            <a:off x="2681748" y="3512976"/>
            <a:ext cx="1700106" cy="36004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1400" b="1" kern="1200" baseline="0" smtClean="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( </a:t>
            </a:r>
            <a:r>
              <a:rPr lang="ko-KR" altLang="en-US" dirty="0" smtClean="0"/>
              <a:t>샌달 </a:t>
            </a:r>
            <a:r>
              <a:rPr lang="en-US" altLang="ko-KR" dirty="0" smtClean="0"/>
              <a:t>Open Mold )</a:t>
            </a:r>
            <a:endParaRPr lang="ko-KR" altLang="en-US" dirty="0"/>
          </a:p>
        </p:txBody>
      </p:sp>
      <p:pic>
        <p:nvPicPr>
          <p:cNvPr id="3076" name="Picture 4" descr="C:\Users\USER\Desktop\중국출장서류(26.05.12)\중국 출장 사진\20260513_134829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0027" y="2564904"/>
            <a:ext cx="2048256" cy="92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C:\Users\USER\Desktop\중국출장서류(26.05.12)\중국 출장 사진\20260513_134913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9709" y="3858110"/>
            <a:ext cx="2048256" cy="92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1" name="Picture 9" descr="C:\Users\USER\Desktop\중국출장서류(26.05.12)\중국 출장 사진\20260513_13492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8323" y="3871413"/>
            <a:ext cx="2048256" cy="92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C:\Users\USER\Desktop\중국출장서류(26.05.12)\중국 출장 사진\20260513_134936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235" y="3858110"/>
            <a:ext cx="2048256" cy="92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3" name="Picture 11" descr="C:\Users\USER\Desktop\중국출장서류(26.05.12)\중국 출장 사진\20260513_134942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3176" y="2564904"/>
            <a:ext cx="2048256" cy="92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C:\Users\USER\Desktop\중국출장서류(26.05.12)\중국 출장 사진\20260513_135131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7638" y="2564904"/>
            <a:ext cx="2048256" cy="92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3" name="Picture 21" descr="C:\Users\USER\Desktop\중국출장서류(26.05.12)\중국 출장 사진\20260513_151004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41" y="3873017"/>
            <a:ext cx="2048256" cy="92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4" name="Picture 22" descr="C:\Users\USER\Desktop\중국출장서류(26.05.12)\중국 출장 사진\20260513_151753.jp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68" y="5115527"/>
            <a:ext cx="2048256" cy="92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5" name="Picture 23" descr="C:\Users\USER\Desktop\중국출장서류(26.05.12)\중국 출장 사진\20260513_151808.jp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8686" y="5125746"/>
            <a:ext cx="2048256" cy="92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6" name="Picture 24" descr="C:\Users\USER\Desktop\중국출장서류(26.05.12)\중국 출장 사진\20260513_151816.jp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523" y="5132780"/>
            <a:ext cx="2048256" cy="92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7" name="Picture 25" descr="C:\Users\USER\Desktop\중국출장서류(26.05.12)\중국 출장 사진\20260513_151828.jp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6972" y="5115527"/>
            <a:ext cx="2048256" cy="92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8" name="Picture 26" descr="C:\Users\USER\Desktop\중국출장서류(26.05.12)\중국 출장 사진\20260513_134646.jp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235" y="2562001"/>
            <a:ext cx="2054703" cy="925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내용 개체 틀 2"/>
          <p:cNvSpPr txBox="1">
            <a:spLocks/>
          </p:cNvSpPr>
          <p:nvPr/>
        </p:nvSpPr>
        <p:spPr>
          <a:xfrm>
            <a:off x="352495" y="764704"/>
            <a:ext cx="6091713" cy="151216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0" lang="en-US" altLang="ko-KR" sz="1400" dirty="0" smtClean="0"/>
              <a:t>- 2D,3D </a:t>
            </a:r>
            <a:r>
              <a:rPr kumimoji="0" lang="ko-KR" altLang="en-US" sz="1400" dirty="0" smtClean="0"/>
              <a:t>근무인원 </a:t>
            </a:r>
            <a:r>
              <a:rPr kumimoji="0" lang="en-US" altLang="ko-KR" sz="1400" dirty="0" smtClean="0"/>
              <a:t>: 30</a:t>
            </a:r>
            <a:r>
              <a:rPr kumimoji="0" lang="ko-KR" altLang="en-US" sz="1400" dirty="0" smtClean="0"/>
              <a:t>명 정도</a:t>
            </a:r>
            <a:endParaRPr kumimoji="0" lang="en-US" altLang="ko-KR" sz="1400" dirty="0" smtClean="0"/>
          </a:p>
          <a:p>
            <a:pPr marL="0" indent="0">
              <a:buNone/>
            </a:pPr>
            <a:r>
              <a:rPr kumimoji="0" lang="en-US" altLang="ko-KR" sz="1400" dirty="0" smtClean="0"/>
              <a:t>- </a:t>
            </a:r>
            <a:r>
              <a:rPr kumimoji="0" lang="ko-KR" altLang="en-US" sz="1400" dirty="0" smtClean="0"/>
              <a:t>중국 </a:t>
            </a:r>
            <a:r>
              <a:rPr kumimoji="0" lang="ko-KR" altLang="en-US" sz="1400" dirty="0" err="1" smtClean="0"/>
              <a:t>금형</a:t>
            </a:r>
            <a:r>
              <a:rPr kumimoji="0" lang="ko-KR" altLang="en-US" sz="1400" dirty="0" smtClean="0"/>
              <a:t> 공장 규모로는 상당히 </a:t>
            </a:r>
            <a:r>
              <a:rPr kumimoji="0" lang="ko-KR" altLang="en-US" sz="1400" dirty="0" err="1" smtClean="0"/>
              <a:t>작은편</a:t>
            </a:r>
            <a:r>
              <a:rPr kumimoji="0" lang="ko-KR" altLang="en-US" sz="1400" dirty="0" smtClean="0"/>
              <a:t> 임</a:t>
            </a:r>
            <a:endParaRPr kumimoji="0" lang="en-US" altLang="ko-KR" sz="1400" dirty="0" smtClean="0"/>
          </a:p>
          <a:p>
            <a:pPr marL="0" indent="0">
              <a:buNone/>
            </a:pPr>
            <a:r>
              <a:rPr kumimoji="0" lang="en-US" altLang="ko-KR" sz="1400" dirty="0" smtClean="0"/>
              <a:t>- </a:t>
            </a:r>
            <a:r>
              <a:rPr kumimoji="0" lang="ko-KR" altLang="en-US" sz="1400" dirty="0" smtClean="0"/>
              <a:t>난이도 중</a:t>
            </a:r>
            <a:r>
              <a:rPr kumimoji="0" lang="en-US" altLang="ko-KR" sz="1400" dirty="0" smtClean="0"/>
              <a:t>,</a:t>
            </a:r>
            <a:r>
              <a:rPr kumimoji="0" lang="ko-KR" altLang="en-US" sz="1400" dirty="0" smtClean="0"/>
              <a:t>하 정도의 </a:t>
            </a:r>
            <a:r>
              <a:rPr kumimoji="0" lang="ko-KR" altLang="en-US" sz="1400" dirty="0" err="1" smtClean="0"/>
              <a:t>몰드</a:t>
            </a:r>
            <a:r>
              <a:rPr kumimoji="0" lang="ko-KR" altLang="en-US" sz="1400" dirty="0" smtClean="0"/>
              <a:t> 제작에 적합</a:t>
            </a:r>
            <a:endParaRPr kumimoji="0" lang="en-US" altLang="ko-KR" sz="1400" dirty="0" smtClean="0"/>
          </a:p>
          <a:p>
            <a:pPr marL="0" indent="0">
              <a:buNone/>
            </a:pPr>
            <a:r>
              <a:rPr kumimoji="0" lang="en-US" altLang="ko-KR" sz="1400" dirty="0" smtClean="0"/>
              <a:t>- Open Mold </a:t>
            </a:r>
            <a:r>
              <a:rPr kumimoji="0" lang="ko-KR" altLang="en-US" sz="1400" dirty="0" err="1" smtClean="0"/>
              <a:t>샌달류</a:t>
            </a:r>
            <a:r>
              <a:rPr kumimoji="0" lang="ko-KR" altLang="en-US" sz="1400" dirty="0" smtClean="0"/>
              <a:t> </a:t>
            </a:r>
            <a:r>
              <a:rPr kumimoji="0" lang="ko-KR" altLang="en-US" sz="1400" dirty="0" err="1" smtClean="0"/>
              <a:t>몰드를</a:t>
            </a:r>
            <a:r>
              <a:rPr kumimoji="0" lang="ko-KR" altLang="en-US" sz="1400" dirty="0" smtClean="0"/>
              <a:t> 많이 </a:t>
            </a:r>
            <a:r>
              <a:rPr kumimoji="0" lang="ko-KR" altLang="en-US" sz="1400" dirty="0" smtClean="0"/>
              <a:t>만듦 </a:t>
            </a:r>
            <a:r>
              <a:rPr kumimoji="0" lang="en-US" altLang="ko-KR" sz="1400" dirty="0" smtClean="0"/>
              <a:t>(</a:t>
            </a:r>
            <a:r>
              <a:rPr kumimoji="0" lang="ko-KR" altLang="en-US" sz="1400" dirty="0" smtClean="0"/>
              <a:t>샌달 </a:t>
            </a:r>
            <a:r>
              <a:rPr kumimoji="0" lang="ko-KR" altLang="en-US" sz="1400" dirty="0" smtClean="0"/>
              <a:t>개발 시 </a:t>
            </a:r>
            <a:r>
              <a:rPr kumimoji="0" lang="ko-KR" altLang="en-US" sz="1400" dirty="0" smtClean="0"/>
              <a:t>참고 제품 다량 보유</a:t>
            </a:r>
            <a:r>
              <a:rPr kumimoji="0" lang="en-US" altLang="ko-KR" sz="1400" dirty="0" smtClean="0"/>
              <a:t>)</a:t>
            </a:r>
          </a:p>
          <a:p>
            <a:pPr marL="0" indent="0">
              <a:buNone/>
            </a:pPr>
            <a:r>
              <a:rPr kumimoji="0" lang="en-US" altLang="ko-KR" sz="1400" dirty="0" smtClean="0"/>
              <a:t>- </a:t>
            </a:r>
            <a:r>
              <a:rPr kumimoji="0" lang="ko-KR" altLang="en-US" sz="1400" dirty="0" err="1" smtClean="0"/>
              <a:t>다이나핏</a:t>
            </a:r>
            <a:r>
              <a:rPr kumimoji="0" lang="en-US" altLang="ko-KR" sz="1400" dirty="0" smtClean="0"/>
              <a:t>(</a:t>
            </a:r>
            <a:r>
              <a:rPr kumimoji="0" lang="ko-KR" altLang="en-US" sz="1400" dirty="0" smtClean="0"/>
              <a:t>중국</a:t>
            </a:r>
            <a:r>
              <a:rPr kumimoji="0" lang="en-US" altLang="ko-KR" sz="1400" dirty="0" smtClean="0"/>
              <a:t>)</a:t>
            </a:r>
            <a:r>
              <a:rPr kumimoji="0" lang="ko-KR" altLang="en-US" sz="1400" dirty="0" smtClean="0"/>
              <a:t> </a:t>
            </a:r>
            <a:r>
              <a:rPr kumimoji="0" lang="ko-KR" altLang="en-US" sz="1400" dirty="0" err="1" smtClean="0"/>
              <a:t>몰드</a:t>
            </a:r>
            <a:r>
              <a:rPr kumimoji="0" lang="ko-KR" altLang="en-US" sz="1400" dirty="0" smtClean="0"/>
              <a:t> 공장</a:t>
            </a:r>
            <a:endParaRPr kumimoji="0" lang="ko-KR" altLang="en-US" sz="1400" dirty="0"/>
          </a:p>
        </p:txBody>
      </p:sp>
      <p:sp>
        <p:nvSpPr>
          <p:cNvPr id="44" name="내용 개체 틀 2"/>
          <p:cNvSpPr txBox="1">
            <a:spLocks/>
          </p:cNvSpPr>
          <p:nvPr/>
        </p:nvSpPr>
        <p:spPr>
          <a:xfrm>
            <a:off x="867505" y="6055308"/>
            <a:ext cx="850053" cy="360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1400" b="1" kern="1200" baseline="0" smtClean="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( </a:t>
            </a:r>
            <a:r>
              <a:rPr lang="ko-KR" altLang="en-US" dirty="0" smtClean="0"/>
              <a:t>현장 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5458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0" y="502398"/>
            <a:ext cx="9144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3" name="내용 개체 틀 2"/>
          <p:cNvSpPr txBox="1">
            <a:spLocks/>
          </p:cNvSpPr>
          <p:nvPr/>
        </p:nvSpPr>
        <p:spPr>
          <a:xfrm>
            <a:off x="654600" y="6165304"/>
            <a:ext cx="1253104" cy="3613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1400" b="1" kern="1200" baseline="0" smtClean="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(Auto Clave)</a:t>
            </a:r>
            <a:endParaRPr lang="ko-KR" altLang="en-US" dirty="0"/>
          </a:p>
        </p:txBody>
      </p:sp>
      <p:pic>
        <p:nvPicPr>
          <p:cNvPr id="5122" name="Picture 2" descr="C:\Users\USER\Desktop\중국출장서류(26.05.12)\중국 출장 사진\20260513_154535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26"/>
          <a:stretch/>
        </p:blipFill>
        <p:spPr bwMode="auto">
          <a:xfrm>
            <a:off x="7020272" y="5232523"/>
            <a:ext cx="1928928" cy="92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C:\Users\USER\Desktop\중국출장서류(26.05.12)\중국 출장 사진\20260513_152558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794504"/>
            <a:ext cx="2048256" cy="92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C:\Users\USER\Desktop\중국출장서류(26.05.12)\중국 출장 사진\20260513_152617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5992" y="2794504"/>
            <a:ext cx="2048256" cy="92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C:\Users\USER\Desktop\중국출장서류(26.05.12)\중국 출장 사진\20260513_152641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860" y="2794504"/>
            <a:ext cx="2048256" cy="92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7" name="Picture 7" descr="C:\Users\USER\Desktop\중국출장서류(26.05.12)\중국 출장 사진\20260513_152954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608" y="2794504"/>
            <a:ext cx="1988592" cy="92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C:\Users\USER\Desktop\중국출장서류(26.05.12)\중국 출장 사진\20260513_152959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0944" y="4016689"/>
            <a:ext cx="2048256" cy="92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4" name="Picture 14" descr="C:\Users\USER\Desktop\중국출장서류(26.05.12)\중국 출장 사진\20260513_153147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65946" y="6942212"/>
            <a:ext cx="589788" cy="347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5" name="Picture 15" descr="C:\Users\USER\Desktop\중국출장서류(26.05.12)\중국 출장 사진\20260513_153150.jp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1103" y="4018640"/>
            <a:ext cx="2048256" cy="92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6" name="Picture 16" descr="C:\Users\USER\Desktop\중국출장서류(26.05.12)\중국 출장 사진\20260513_153157.jp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860" y="4016689"/>
            <a:ext cx="2048256" cy="92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9" name="Picture 19" descr="C:\Users\USER\Desktop\중국출장서류(26.05.12)\중국 출장 사진\20260513_153618.jp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266" y="4018640"/>
            <a:ext cx="2048256" cy="92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44" name="Picture 24" descr="C:\Users\USER\Desktop\중국출장서류(26.05.12)\중국 출장 사진\20260513_154419.jp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5992" y="5235571"/>
            <a:ext cx="2048256" cy="92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46" name="Picture 26" descr="C:\Users\USER\Desktop\중국출장서류(26.05.12)\중국 출장 사진\20260513_154431.jp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5235571"/>
            <a:ext cx="2048256" cy="92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48" name="Picture 28" descr="C:\Users\USER\Desktop\중국출장서류(26.05.12)\중국 출장 사진\20260513_154439.jpg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3314" y="5229200"/>
            <a:ext cx="2048256" cy="92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내용 개체 틀 2"/>
          <p:cNvSpPr txBox="1">
            <a:spLocks/>
          </p:cNvSpPr>
          <p:nvPr/>
        </p:nvSpPr>
        <p:spPr>
          <a:xfrm>
            <a:off x="2958856" y="3707077"/>
            <a:ext cx="1253104" cy="36136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1400" b="1" kern="1200" baseline="0" smtClean="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(LAB TEST</a:t>
            </a:r>
            <a:r>
              <a:rPr lang="ko-KR" altLang="en-US" dirty="0" smtClean="0"/>
              <a:t>실 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39" name="내용 개체 틀 2"/>
          <p:cNvSpPr txBox="1">
            <a:spLocks/>
          </p:cNvSpPr>
          <p:nvPr/>
        </p:nvSpPr>
        <p:spPr>
          <a:xfrm>
            <a:off x="899592" y="4939839"/>
            <a:ext cx="1123613" cy="3613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1400" b="1" kern="1200" baseline="0" smtClean="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(</a:t>
            </a:r>
            <a:r>
              <a:rPr lang="ko-KR" altLang="en-US" dirty="0" smtClean="0"/>
              <a:t>현장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1" name="내용 개체 틀 2"/>
          <p:cNvSpPr txBox="1">
            <a:spLocks/>
          </p:cNvSpPr>
          <p:nvPr/>
        </p:nvSpPr>
        <p:spPr>
          <a:xfrm>
            <a:off x="352495" y="620688"/>
            <a:ext cx="4867577" cy="217381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0" lang="en-US" altLang="ko-KR" sz="1400" dirty="0" smtClean="0"/>
              <a:t>- </a:t>
            </a:r>
            <a:r>
              <a:rPr kumimoji="0" lang="ko-KR" altLang="en-US" sz="1400" dirty="0" smtClean="0"/>
              <a:t>설립연도 </a:t>
            </a:r>
            <a:r>
              <a:rPr kumimoji="0" lang="en-US" altLang="ko-KR" sz="1400" dirty="0" smtClean="0"/>
              <a:t>: 1996</a:t>
            </a:r>
            <a:r>
              <a:rPr kumimoji="0" lang="ko-KR" altLang="en-US" sz="1400" dirty="0" smtClean="0"/>
              <a:t>년</a:t>
            </a:r>
            <a:endParaRPr kumimoji="0" lang="en-US" altLang="ko-KR" sz="1400" dirty="0" smtClean="0"/>
          </a:p>
          <a:p>
            <a:pPr marL="0" indent="0">
              <a:buNone/>
            </a:pPr>
            <a:r>
              <a:rPr kumimoji="0" lang="en-US" altLang="ko-KR" sz="1400" dirty="0" smtClean="0"/>
              <a:t>- </a:t>
            </a:r>
            <a:r>
              <a:rPr kumimoji="0" lang="ko-KR" altLang="en-US" sz="1400" dirty="0" smtClean="0"/>
              <a:t>자체 </a:t>
            </a:r>
            <a:r>
              <a:rPr kumimoji="0" lang="en-US" altLang="ko-KR" sz="1400" dirty="0" smtClean="0"/>
              <a:t>LAB TEST</a:t>
            </a:r>
            <a:r>
              <a:rPr kumimoji="0" lang="ko-KR" altLang="en-US" sz="1400" dirty="0" smtClean="0"/>
              <a:t>실 보유</a:t>
            </a:r>
            <a:endParaRPr kumimoji="0" lang="en-US" altLang="ko-KR" sz="1400" dirty="0" smtClean="0"/>
          </a:p>
          <a:p>
            <a:pPr marL="0" indent="0">
              <a:buNone/>
            </a:pPr>
            <a:r>
              <a:rPr kumimoji="0" lang="en-US" altLang="ko-KR" sz="1400" dirty="0" smtClean="0"/>
              <a:t>- </a:t>
            </a:r>
            <a:r>
              <a:rPr kumimoji="0" lang="ko-KR" altLang="en-US" sz="1400" dirty="0" err="1" smtClean="0"/>
              <a:t>초임계</a:t>
            </a:r>
            <a:r>
              <a:rPr kumimoji="0" lang="ko-KR" altLang="en-US" sz="1400" dirty="0" smtClean="0"/>
              <a:t> 질소 탱크</a:t>
            </a:r>
            <a:r>
              <a:rPr kumimoji="0" lang="en-US" altLang="ko-KR" sz="1400" dirty="0" smtClean="0"/>
              <a:t>(Auto Clave) : 6</a:t>
            </a:r>
            <a:r>
              <a:rPr kumimoji="0" lang="ko-KR" altLang="en-US" sz="1400" dirty="0" smtClean="0"/>
              <a:t>대</a:t>
            </a:r>
            <a:r>
              <a:rPr kumimoji="0" lang="en-US" altLang="ko-KR" sz="1400" dirty="0" smtClean="0"/>
              <a:t>,</a:t>
            </a:r>
            <a:r>
              <a:rPr kumimoji="0" lang="ko-KR" altLang="en-US" sz="1400" dirty="0" smtClean="0"/>
              <a:t> 월</a:t>
            </a:r>
            <a:r>
              <a:rPr kumimoji="0" lang="en-US" altLang="ko-KR" sz="1400" dirty="0" smtClean="0"/>
              <a:t> </a:t>
            </a:r>
            <a:r>
              <a:rPr kumimoji="0" lang="ko-KR" altLang="en-US" sz="1400" dirty="0" smtClean="0"/>
              <a:t>생산량 </a:t>
            </a:r>
            <a:r>
              <a:rPr kumimoji="0" lang="en-US" altLang="ko-KR" sz="1400" dirty="0" smtClean="0"/>
              <a:t>: 18</a:t>
            </a:r>
            <a:r>
              <a:rPr kumimoji="0" lang="ko-KR" altLang="en-US" sz="1400" dirty="0" smtClean="0"/>
              <a:t>만족</a:t>
            </a:r>
            <a:endParaRPr kumimoji="0" lang="en-US" altLang="ko-KR" sz="1400" dirty="0" smtClean="0"/>
          </a:p>
          <a:p>
            <a:pPr marL="0" indent="0">
              <a:buNone/>
            </a:pPr>
            <a:r>
              <a:rPr kumimoji="0" lang="en-US" altLang="ko-KR" sz="1400" dirty="0" smtClean="0"/>
              <a:t>- I.P PRESS </a:t>
            </a:r>
            <a:r>
              <a:rPr kumimoji="0" lang="ko-KR" altLang="en-US" sz="1400" dirty="0" smtClean="0"/>
              <a:t>장비 </a:t>
            </a:r>
            <a:r>
              <a:rPr kumimoji="0" lang="en-US" altLang="ko-KR" sz="1400" dirty="0" smtClean="0"/>
              <a:t>: 18</a:t>
            </a:r>
            <a:r>
              <a:rPr kumimoji="0" lang="ko-KR" altLang="en-US" sz="1400" dirty="0" smtClean="0"/>
              <a:t>세트</a:t>
            </a:r>
            <a:r>
              <a:rPr kumimoji="0" lang="en-US" altLang="ko-KR" sz="1400" dirty="0" smtClean="0"/>
              <a:t>, </a:t>
            </a:r>
            <a:r>
              <a:rPr kumimoji="0" lang="ko-KR" altLang="en-US" sz="1400" dirty="0" smtClean="0"/>
              <a:t>월 생산량 </a:t>
            </a:r>
            <a:r>
              <a:rPr kumimoji="0" lang="en-US" altLang="ko-KR" sz="1400" dirty="0" smtClean="0"/>
              <a:t>: 100</a:t>
            </a:r>
            <a:r>
              <a:rPr kumimoji="0" lang="ko-KR" altLang="en-US" sz="1400" dirty="0" smtClean="0"/>
              <a:t>만족</a:t>
            </a:r>
            <a:endParaRPr kumimoji="0" lang="en-US" altLang="ko-KR" sz="1400" dirty="0" smtClean="0"/>
          </a:p>
          <a:p>
            <a:pPr marL="0" indent="0">
              <a:buNone/>
            </a:pPr>
            <a:r>
              <a:rPr kumimoji="0" lang="en-US" altLang="ko-KR" sz="1400" dirty="0" smtClean="0"/>
              <a:t>- P/L PRESS </a:t>
            </a:r>
            <a:r>
              <a:rPr kumimoji="0" lang="ko-KR" altLang="en-US" sz="1400" dirty="0" smtClean="0"/>
              <a:t>장비 </a:t>
            </a:r>
            <a:r>
              <a:rPr kumimoji="0" lang="en-US" altLang="ko-KR" sz="1400" dirty="0" smtClean="0"/>
              <a:t>: 30</a:t>
            </a:r>
            <a:r>
              <a:rPr kumimoji="0" lang="ko-KR" altLang="en-US" sz="1400" dirty="0" smtClean="0"/>
              <a:t>세트</a:t>
            </a:r>
            <a:r>
              <a:rPr kumimoji="0" lang="en-US" altLang="ko-KR" sz="1400" dirty="0" smtClean="0"/>
              <a:t>, </a:t>
            </a:r>
            <a:r>
              <a:rPr kumimoji="0" lang="ko-KR" altLang="en-US" sz="1400" dirty="0" smtClean="0"/>
              <a:t>월 생산량 </a:t>
            </a:r>
            <a:r>
              <a:rPr kumimoji="0" lang="en-US" altLang="ko-KR" sz="1400" dirty="0" smtClean="0"/>
              <a:t>: 150</a:t>
            </a:r>
            <a:r>
              <a:rPr kumimoji="0" lang="ko-KR" altLang="en-US" sz="1400" dirty="0" smtClean="0"/>
              <a:t>만족</a:t>
            </a:r>
            <a:endParaRPr kumimoji="0" lang="en-US" altLang="ko-KR" sz="1400" dirty="0" smtClean="0"/>
          </a:p>
          <a:p>
            <a:pPr marL="0" indent="0">
              <a:buNone/>
            </a:pPr>
            <a:r>
              <a:rPr kumimoji="0" lang="en-US" altLang="ko-KR" sz="1400" dirty="0" smtClean="0"/>
              <a:t>- O/S </a:t>
            </a:r>
            <a:r>
              <a:rPr kumimoji="0" lang="en-US" altLang="ko-KR" sz="1400" dirty="0"/>
              <a:t>PRESS </a:t>
            </a:r>
            <a:r>
              <a:rPr kumimoji="0" lang="ko-KR" altLang="en-US" sz="1400" dirty="0"/>
              <a:t>장비 </a:t>
            </a:r>
            <a:r>
              <a:rPr kumimoji="0" lang="en-US" altLang="ko-KR" sz="1400" dirty="0"/>
              <a:t>: </a:t>
            </a:r>
            <a:r>
              <a:rPr kumimoji="0" lang="en-US" altLang="ko-KR" sz="1400" dirty="0" smtClean="0"/>
              <a:t>12</a:t>
            </a:r>
            <a:r>
              <a:rPr kumimoji="0" lang="ko-KR" altLang="en-US" sz="1400" dirty="0" smtClean="0"/>
              <a:t>세트</a:t>
            </a:r>
            <a:r>
              <a:rPr kumimoji="0" lang="en-US" altLang="ko-KR" sz="1400" dirty="0"/>
              <a:t>, </a:t>
            </a:r>
            <a:r>
              <a:rPr kumimoji="0" lang="ko-KR" altLang="en-US" sz="1400" dirty="0"/>
              <a:t>월 생산량 </a:t>
            </a:r>
            <a:r>
              <a:rPr kumimoji="0" lang="en-US" altLang="ko-KR" sz="1400" dirty="0"/>
              <a:t>: </a:t>
            </a:r>
            <a:r>
              <a:rPr kumimoji="0" lang="en-US" altLang="ko-KR" sz="1400" dirty="0" smtClean="0"/>
              <a:t>100</a:t>
            </a:r>
            <a:r>
              <a:rPr kumimoji="0" lang="ko-KR" altLang="en-US" sz="1400" dirty="0" smtClean="0"/>
              <a:t>만족</a:t>
            </a:r>
            <a:endParaRPr kumimoji="0" lang="en-US" altLang="ko-KR" sz="1400" dirty="0" smtClean="0"/>
          </a:p>
          <a:p>
            <a:pPr marL="0" indent="0">
              <a:buNone/>
            </a:pPr>
            <a:r>
              <a:rPr kumimoji="0" lang="en-US" altLang="ko-KR" sz="1400" dirty="0" smtClean="0"/>
              <a:t>- TPU </a:t>
            </a:r>
            <a:r>
              <a:rPr kumimoji="0" lang="ko-KR" altLang="en-US" sz="1400" dirty="0" smtClean="0"/>
              <a:t>사출 장비 </a:t>
            </a:r>
            <a:r>
              <a:rPr kumimoji="0" lang="en-US" altLang="ko-KR" sz="1400" dirty="0" smtClean="0"/>
              <a:t>: 10</a:t>
            </a:r>
            <a:r>
              <a:rPr kumimoji="0" lang="ko-KR" altLang="en-US" sz="1400" dirty="0" smtClean="0"/>
              <a:t>세트</a:t>
            </a:r>
            <a:r>
              <a:rPr kumimoji="0" lang="en-US" altLang="ko-KR" sz="1400" dirty="0" smtClean="0"/>
              <a:t>, </a:t>
            </a:r>
            <a:r>
              <a:rPr kumimoji="0" lang="ko-KR" altLang="en-US" sz="1400" dirty="0" smtClean="0"/>
              <a:t>월 생산량 </a:t>
            </a:r>
            <a:r>
              <a:rPr kumimoji="0" lang="en-US" altLang="ko-KR" sz="1400" dirty="0" smtClean="0"/>
              <a:t>: 50</a:t>
            </a:r>
            <a:r>
              <a:rPr kumimoji="0" lang="ko-KR" altLang="en-US" sz="1400" dirty="0" smtClean="0"/>
              <a:t>만족</a:t>
            </a:r>
            <a:endParaRPr kumimoji="0" lang="en-US" altLang="ko-KR" sz="1400" dirty="0" smtClean="0"/>
          </a:p>
          <a:p>
            <a:pPr marL="0" indent="0">
              <a:buNone/>
            </a:pPr>
            <a:r>
              <a:rPr kumimoji="0" lang="en-US" altLang="ko-KR" sz="1400" dirty="0" smtClean="0"/>
              <a:t>- </a:t>
            </a:r>
            <a:r>
              <a:rPr kumimoji="0" lang="ko-KR" altLang="en-US" sz="1400" dirty="0" smtClean="0"/>
              <a:t>준비 접착 라인 </a:t>
            </a:r>
            <a:r>
              <a:rPr kumimoji="0" lang="en-US" altLang="ko-KR" sz="1400" dirty="0" smtClean="0"/>
              <a:t>: 15</a:t>
            </a:r>
            <a:r>
              <a:rPr kumimoji="0" lang="ko-KR" altLang="en-US" sz="1400" dirty="0" smtClean="0"/>
              <a:t>개</a:t>
            </a:r>
            <a:r>
              <a:rPr kumimoji="0" lang="en-US" altLang="ko-KR" sz="1400" dirty="0" smtClean="0"/>
              <a:t>, </a:t>
            </a:r>
            <a:r>
              <a:rPr kumimoji="0" lang="ko-KR" altLang="en-US" sz="1400" dirty="0" smtClean="0"/>
              <a:t>월 생산량 </a:t>
            </a:r>
            <a:r>
              <a:rPr kumimoji="0" lang="en-US" altLang="ko-KR" sz="1400" dirty="0" smtClean="0"/>
              <a:t>: 120</a:t>
            </a:r>
            <a:r>
              <a:rPr kumimoji="0" lang="ko-KR" altLang="en-US" sz="1400" dirty="0" smtClean="0"/>
              <a:t>만족</a:t>
            </a:r>
            <a:endParaRPr kumimoji="0" lang="en-US" altLang="ko-KR" sz="1400" dirty="0" smtClean="0"/>
          </a:p>
        </p:txBody>
      </p:sp>
      <p:pic>
        <p:nvPicPr>
          <p:cNvPr id="42" name="Picture 2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3659" y="1087240"/>
            <a:ext cx="1585541" cy="1392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3" name="내용 개체 틀 2"/>
          <p:cNvSpPr txBox="1">
            <a:spLocks/>
          </p:cNvSpPr>
          <p:nvPr/>
        </p:nvSpPr>
        <p:spPr>
          <a:xfrm>
            <a:off x="7705628" y="2455392"/>
            <a:ext cx="936105" cy="360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1400" b="1" kern="1200" baseline="0" smtClean="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( BUYER )</a:t>
            </a:r>
            <a:endParaRPr lang="ko-KR" altLang="en-US" dirty="0"/>
          </a:p>
        </p:txBody>
      </p:sp>
      <p:sp>
        <p:nvSpPr>
          <p:cNvPr id="44" name="내용 개체 틀 1"/>
          <p:cNvSpPr txBox="1">
            <a:spLocks/>
          </p:cNvSpPr>
          <p:nvPr/>
        </p:nvSpPr>
        <p:spPr>
          <a:xfrm>
            <a:off x="331914" y="116632"/>
            <a:ext cx="3952054" cy="404813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0" lang="ko-KR" altLang="en-US" sz="1800" dirty="0" smtClean="0"/>
              <a:t>대원 </a:t>
            </a:r>
            <a:r>
              <a:rPr kumimoji="0" lang="en-US" altLang="ko-KR" sz="1800" dirty="0" smtClean="0"/>
              <a:t>– </a:t>
            </a:r>
            <a:r>
              <a:rPr kumimoji="0" lang="ko-KR" altLang="en-US" sz="1800" dirty="0" err="1" smtClean="0"/>
              <a:t>아웃솔</a:t>
            </a:r>
            <a:r>
              <a:rPr kumimoji="0" lang="en-US" altLang="ko-KR" sz="1800" dirty="0" smtClean="0"/>
              <a:t>+ </a:t>
            </a:r>
            <a:r>
              <a:rPr kumimoji="0" lang="ko-KR" altLang="en-US" sz="1800" dirty="0" err="1" smtClean="0"/>
              <a:t>미드솔</a:t>
            </a:r>
            <a:r>
              <a:rPr kumimoji="0" lang="ko-KR" altLang="en-US" sz="1800" dirty="0" smtClean="0"/>
              <a:t> 부품 업체</a:t>
            </a:r>
          </a:p>
          <a:p>
            <a:pPr marL="0" indent="0">
              <a:buNone/>
            </a:pPr>
            <a:endParaRPr kumimoji="0" lang="en-US" altLang="ko-KR" sz="1800" dirty="0" smtClean="0"/>
          </a:p>
        </p:txBody>
      </p:sp>
    </p:spTree>
    <p:extLst>
      <p:ext uri="{BB962C8B-B14F-4D97-AF65-F5344CB8AC3E}">
        <p14:creationId xmlns:p14="http://schemas.microsoft.com/office/powerpoint/2010/main" val="105630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내용 개체 틀 2"/>
          <p:cNvSpPr txBox="1">
            <a:spLocks/>
          </p:cNvSpPr>
          <p:nvPr/>
        </p:nvSpPr>
        <p:spPr>
          <a:xfrm>
            <a:off x="395536" y="764704"/>
            <a:ext cx="5507265" cy="144016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0" lang="en-US" altLang="ko-KR" sz="1400" dirty="0" smtClean="0"/>
              <a:t>- </a:t>
            </a:r>
            <a:r>
              <a:rPr kumimoji="0" lang="ko-KR" altLang="en-US" sz="1400" dirty="0" smtClean="0"/>
              <a:t>안타 </a:t>
            </a:r>
            <a:r>
              <a:rPr kumimoji="0" lang="ko-KR" altLang="en-US" sz="1400" dirty="0" err="1" smtClean="0"/>
              <a:t>초임계</a:t>
            </a:r>
            <a:r>
              <a:rPr kumimoji="0" lang="ko-KR" altLang="en-US" sz="1400" dirty="0" smtClean="0"/>
              <a:t> 폼 메인 공장 </a:t>
            </a:r>
            <a:r>
              <a:rPr kumimoji="0" lang="en-US" altLang="ko-KR" sz="1400" dirty="0" smtClean="0"/>
              <a:t>(</a:t>
            </a:r>
            <a:r>
              <a:rPr kumimoji="0" lang="ko-KR" altLang="en-US" sz="1400" dirty="0"/>
              <a:t>설립연도 </a:t>
            </a:r>
            <a:r>
              <a:rPr kumimoji="0" lang="en-US" altLang="ko-KR" sz="1400" dirty="0"/>
              <a:t>: </a:t>
            </a:r>
            <a:r>
              <a:rPr kumimoji="0" lang="en-US" altLang="ko-KR" sz="1400" dirty="0" smtClean="0"/>
              <a:t>2021</a:t>
            </a:r>
            <a:r>
              <a:rPr kumimoji="0" lang="ko-KR" altLang="en-US" sz="1400" dirty="0" smtClean="0"/>
              <a:t>년 </a:t>
            </a:r>
            <a:r>
              <a:rPr kumimoji="0" lang="en-US" altLang="ko-KR" sz="1400" dirty="0"/>
              <a:t>10</a:t>
            </a:r>
            <a:r>
              <a:rPr kumimoji="0" lang="ko-KR" altLang="en-US" sz="1400" dirty="0" smtClean="0"/>
              <a:t>월</a:t>
            </a:r>
            <a:r>
              <a:rPr kumimoji="0" lang="en-US" altLang="ko-KR" sz="1400" dirty="0" smtClean="0"/>
              <a:t>)</a:t>
            </a:r>
          </a:p>
          <a:p>
            <a:pPr marL="0" indent="0">
              <a:buNone/>
            </a:pPr>
            <a:r>
              <a:rPr kumimoji="0" lang="en-US" altLang="ko-KR" sz="1400" dirty="0" smtClean="0"/>
              <a:t>- 2023</a:t>
            </a:r>
            <a:r>
              <a:rPr kumimoji="0" lang="ko-KR" altLang="en-US" sz="1400" dirty="0" smtClean="0"/>
              <a:t>년도에 </a:t>
            </a:r>
            <a:r>
              <a:rPr kumimoji="0" lang="ko-KR" altLang="en-US" sz="1400" dirty="0" err="1" smtClean="0"/>
              <a:t>초임계</a:t>
            </a:r>
            <a:r>
              <a:rPr kumimoji="0" lang="ko-KR" altLang="en-US" sz="1400" dirty="0" smtClean="0"/>
              <a:t> 설비 갖춤</a:t>
            </a:r>
            <a:endParaRPr kumimoji="0" lang="en-US" altLang="ko-KR" sz="1400" dirty="0" smtClean="0"/>
          </a:p>
          <a:p>
            <a:pPr marL="0" indent="0">
              <a:buNone/>
            </a:pPr>
            <a:r>
              <a:rPr kumimoji="0" lang="en-US" altLang="ko-KR" sz="1400" dirty="0" smtClean="0"/>
              <a:t>- </a:t>
            </a:r>
            <a:r>
              <a:rPr kumimoji="0" lang="ko-KR" altLang="en-US" sz="1400" dirty="0" err="1" smtClean="0"/>
              <a:t>초임계</a:t>
            </a:r>
            <a:r>
              <a:rPr kumimoji="0" lang="ko-KR" altLang="en-US" sz="1400" dirty="0" smtClean="0"/>
              <a:t> </a:t>
            </a:r>
            <a:r>
              <a:rPr kumimoji="0" lang="ko-KR" altLang="en-US" sz="1400" dirty="0"/>
              <a:t>질소 탱크</a:t>
            </a:r>
            <a:r>
              <a:rPr kumimoji="0" lang="en-US" altLang="ko-KR" sz="1400" dirty="0"/>
              <a:t>(Auto Clave) : </a:t>
            </a:r>
            <a:r>
              <a:rPr kumimoji="0" lang="en-US" altLang="ko-KR" sz="1400" dirty="0" smtClean="0"/>
              <a:t>4</a:t>
            </a:r>
            <a:r>
              <a:rPr kumimoji="0" lang="ko-KR" altLang="en-US" sz="1400" dirty="0" smtClean="0"/>
              <a:t>대 </a:t>
            </a:r>
            <a:endParaRPr kumimoji="0" lang="en-US" altLang="ko-KR" sz="1400" dirty="0" smtClean="0"/>
          </a:p>
          <a:p>
            <a:pPr marL="0" indent="0">
              <a:buNone/>
            </a:pPr>
            <a:r>
              <a:rPr kumimoji="0" lang="en-US" altLang="ko-KR" sz="1400" dirty="0" smtClean="0"/>
              <a:t>- </a:t>
            </a:r>
            <a:r>
              <a:rPr lang="en-US" altLang="ko-KR" sz="1400" dirty="0"/>
              <a:t>Auto </a:t>
            </a:r>
            <a:r>
              <a:rPr lang="en-US" altLang="ko-KR" sz="1400" dirty="0" smtClean="0"/>
              <a:t>Clave 1</a:t>
            </a:r>
            <a:r>
              <a:rPr lang="ko-KR" altLang="en-US" sz="1400" dirty="0" smtClean="0"/>
              <a:t>대에 </a:t>
            </a:r>
            <a:r>
              <a:rPr lang="en-US" altLang="ko-KR" sz="1400" dirty="0" smtClean="0"/>
              <a:t>2</a:t>
            </a:r>
            <a:r>
              <a:rPr lang="ko-KR" altLang="en-US" sz="1400" dirty="0" smtClean="0"/>
              <a:t>시간 기준 </a:t>
            </a:r>
            <a:r>
              <a:rPr lang="en-US" altLang="ko-KR" sz="1400" dirty="0" smtClean="0"/>
              <a:t>: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200</a:t>
            </a:r>
            <a:r>
              <a:rPr lang="ko-KR" altLang="en-US" sz="1400" dirty="0" smtClean="0"/>
              <a:t>족 정도 질소 </a:t>
            </a:r>
            <a:r>
              <a:rPr lang="en-US" altLang="ko-KR" sz="1400" dirty="0" smtClean="0"/>
              <a:t>CMP </a:t>
            </a:r>
            <a:r>
              <a:rPr lang="ko-KR" altLang="en-US" sz="1400" dirty="0" smtClean="0"/>
              <a:t>작업 가능</a:t>
            </a:r>
            <a:endParaRPr kumimoji="0" lang="en-US" altLang="ko-KR" sz="1400" dirty="0" smtClean="0"/>
          </a:p>
          <a:p>
            <a:pPr marL="0" indent="0">
              <a:buNone/>
            </a:pPr>
            <a:r>
              <a:rPr kumimoji="0" lang="en-US" altLang="ko-KR" sz="1400" dirty="0" smtClean="0"/>
              <a:t>- </a:t>
            </a:r>
            <a:r>
              <a:rPr kumimoji="0" lang="ko-KR" altLang="en-US" sz="1400" dirty="0" smtClean="0"/>
              <a:t>연간 생산량은 </a:t>
            </a:r>
            <a:r>
              <a:rPr kumimoji="0" lang="en-US" altLang="ko-KR" sz="1400" dirty="0" smtClean="0"/>
              <a:t>2,500</a:t>
            </a:r>
            <a:r>
              <a:rPr kumimoji="0" lang="ko-KR" altLang="en-US" sz="1400" dirty="0" smtClean="0"/>
              <a:t>만족 이상</a:t>
            </a:r>
            <a:endParaRPr kumimoji="0" lang="en-US" altLang="ko-KR" sz="1400" dirty="0" smtClean="0"/>
          </a:p>
        </p:txBody>
      </p:sp>
      <p:sp>
        <p:nvSpPr>
          <p:cNvPr id="6" name="내용 개체 틀 1"/>
          <p:cNvSpPr txBox="1">
            <a:spLocks/>
          </p:cNvSpPr>
          <p:nvPr/>
        </p:nvSpPr>
        <p:spPr>
          <a:xfrm>
            <a:off x="323530" y="97585"/>
            <a:ext cx="8496944" cy="404813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0" lang="ko-KR" altLang="en-US" sz="1800" dirty="0" err="1" smtClean="0"/>
              <a:t>안푸츠</a:t>
            </a:r>
            <a:r>
              <a:rPr kumimoji="0" lang="ko-KR" altLang="en-US" sz="1800" dirty="0" smtClean="0"/>
              <a:t> </a:t>
            </a:r>
            <a:r>
              <a:rPr kumimoji="0" lang="en-US" altLang="ko-KR" sz="1800" dirty="0" smtClean="0"/>
              <a:t>– </a:t>
            </a:r>
            <a:r>
              <a:rPr kumimoji="0" lang="ko-KR" altLang="en-US" sz="1800" dirty="0" err="1"/>
              <a:t>아웃솔</a:t>
            </a:r>
            <a:r>
              <a:rPr kumimoji="0" lang="en-US" altLang="ko-KR" sz="1800" dirty="0"/>
              <a:t>+ </a:t>
            </a:r>
            <a:r>
              <a:rPr kumimoji="0" lang="ko-KR" altLang="en-US" sz="1800" dirty="0" err="1"/>
              <a:t>미드솔</a:t>
            </a:r>
            <a:r>
              <a:rPr kumimoji="0" lang="ko-KR" altLang="en-US" sz="1800" dirty="0"/>
              <a:t> </a:t>
            </a:r>
            <a:r>
              <a:rPr kumimoji="0" lang="ko-KR" altLang="en-US" sz="1800" dirty="0" smtClean="0"/>
              <a:t>부품 업체</a:t>
            </a:r>
            <a:endParaRPr kumimoji="0" lang="en-US" altLang="ko-KR" sz="1800" dirty="0" smtClean="0"/>
          </a:p>
        </p:txBody>
      </p:sp>
      <p:cxnSp>
        <p:nvCxnSpPr>
          <p:cNvPr id="3" name="직선 연결선 2"/>
          <p:cNvCxnSpPr/>
          <p:nvPr/>
        </p:nvCxnSpPr>
        <p:spPr>
          <a:xfrm>
            <a:off x="0" y="502398"/>
            <a:ext cx="9144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098" name="Picture 2" descr="C:\Users\USER\Desktop\중국출장서류(26.05.12)\중국 출장 사진\20260513_11291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062" y="2591271"/>
            <a:ext cx="2029273" cy="92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C:\Users\USER\Desktop\중국출장서류(26.05.12)\중국 출장 사진\20260513_113803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4824" y="2572345"/>
            <a:ext cx="2038901" cy="92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:\Users\USER\Desktop\중국출장서류(26.05.12)\중국 출장 사진\20260513_113843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1844" y="2572345"/>
            <a:ext cx="2027279" cy="92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C:\Users\USER\Desktop\중국출장서류(26.05.12)\중국 출장 사진\20260513_113900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9004" y="2591271"/>
            <a:ext cx="2048256" cy="92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3" name="Picture 7" descr="C:\Users\USER\Desktop\중국출장서류(26.05.12)\중국 출장 사진\20260513_113920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079" y="3821424"/>
            <a:ext cx="2048256" cy="92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5" name="Picture 9" descr="C:\Users\USER\Desktop\중국출장서류(26.05.12)\중국 출장 사진\20260513_113957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4825" y="3814478"/>
            <a:ext cx="2048256" cy="92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7" name="Picture 11" descr="C:\Users\USER\Desktop\중국출장서류(26.05.12)\중국 출장 사진\20260513_114217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0867" y="3814478"/>
            <a:ext cx="2048256" cy="92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9" name="Picture 13" descr="C:\Users\USER\Desktop\중국출장서류(26.05.12)\중국 출장 사진\20260513_121129.jp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9004" y="3821424"/>
            <a:ext cx="2048256" cy="92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 descr="C:\Users\USER\Desktop\중국출장서류(26.05.12)\중국 출장 사진\20260513_121146.jp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9004" y="5039012"/>
            <a:ext cx="2048256" cy="92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1" name="Picture 15" descr="C:\Users\USER\Desktop\중국출장서류(26.05.12)\중국 출장 사진\20260513_121155.jp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4824" y="5045194"/>
            <a:ext cx="2048257" cy="92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2" name="Picture 16" descr="C:\Users\USER\Desktop\중국출장서류(26.05.12)\중국 출장 사진\20260513_121257.jp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079" y="5045194"/>
            <a:ext cx="2048256" cy="92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3" name="Picture 17" descr="C:\Users\USER\Desktop\중국출장서류(26.05.12)\중국 출장 사진\20260513_121410.jp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5938" y="5039012"/>
            <a:ext cx="2048256" cy="92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내용 개체 틀 2"/>
          <p:cNvSpPr txBox="1">
            <a:spLocks/>
          </p:cNvSpPr>
          <p:nvPr/>
        </p:nvSpPr>
        <p:spPr>
          <a:xfrm>
            <a:off x="2987824" y="3492381"/>
            <a:ext cx="1021040" cy="360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1400" b="1" kern="1200" baseline="0" smtClean="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( </a:t>
            </a:r>
            <a:r>
              <a:rPr lang="ko-KR" altLang="en-US" dirty="0" smtClean="0"/>
              <a:t>전시실 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28" name="내용 개체 틀 2"/>
          <p:cNvSpPr txBox="1">
            <a:spLocks/>
          </p:cNvSpPr>
          <p:nvPr/>
        </p:nvSpPr>
        <p:spPr>
          <a:xfrm>
            <a:off x="630655" y="5990663"/>
            <a:ext cx="1253104" cy="3613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1400" b="1" kern="1200" baseline="0" smtClean="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(Auto Clave)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7343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/>
          <p:cNvSpPr txBox="1">
            <a:spLocks/>
          </p:cNvSpPr>
          <p:nvPr/>
        </p:nvSpPr>
        <p:spPr>
          <a:xfrm>
            <a:off x="323530" y="97585"/>
            <a:ext cx="8496944" cy="404813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0" lang="en-US" altLang="ko-KR" sz="1800" dirty="0" smtClean="0"/>
              <a:t>Rich River</a:t>
            </a:r>
            <a:r>
              <a:rPr kumimoji="0" lang="ko-KR" altLang="en-US" sz="1800" dirty="0" smtClean="0"/>
              <a:t> </a:t>
            </a:r>
            <a:r>
              <a:rPr kumimoji="0" lang="en-US" altLang="ko-KR" sz="1800" dirty="0" smtClean="0"/>
              <a:t>– </a:t>
            </a:r>
            <a:r>
              <a:rPr kumimoji="0" lang="ko-KR" altLang="en-US" sz="1800" dirty="0" smtClean="0"/>
              <a:t>완제 업체</a:t>
            </a:r>
          </a:p>
          <a:p>
            <a:pPr marL="0" indent="0">
              <a:buNone/>
            </a:pPr>
            <a:endParaRPr kumimoji="0" lang="en-US" altLang="ko-KR" sz="1800" dirty="0" smtClean="0"/>
          </a:p>
        </p:txBody>
      </p:sp>
      <p:cxnSp>
        <p:nvCxnSpPr>
          <p:cNvPr id="3" name="직선 연결선 2"/>
          <p:cNvCxnSpPr/>
          <p:nvPr/>
        </p:nvCxnSpPr>
        <p:spPr>
          <a:xfrm>
            <a:off x="0" y="502398"/>
            <a:ext cx="9144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2" name="내용 개체 틀 2"/>
          <p:cNvSpPr txBox="1">
            <a:spLocks/>
          </p:cNvSpPr>
          <p:nvPr/>
        </p:nvSpPr>
        <p:spPr>
          <a:xfrm>
            <a:off x="352495" y="620688"/>
            <a:ext cx="4795569" cy="252258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0" lang="en-US" altLang="ko-KR" sz="1400" dirty="0" smtClean="0"/>
              <a:t>- </a:t>
            </a:r>
            <a:r>
              <a:rPr kumimoji="0" lang="ko-KR" altLang="en-US" sz="1400" dirty="0"/>
              <a:t>설립연도 </a:t>
            </a:r>
            <a:r>
              <a:rPr kumimoji="0" lang="en-US" altLang="ko-KR" sz="1400" dirty="0"/>
              <a:t>: </a:t>
            </a:r>
            <a:r>
              <a:rPr kumimoji="0" lang="en-US" altLang="ko-KR" sz="1400" dirty="0" smtClean="0"/>
              <a:t>2021</a:t>
            </a:r>
            <a:r>
              <a:rPr kumimoji="0" lang="ko-KR" altLang="en-US" sz="1400" dirty="0" smtClean="0"/>
              <a:t>년</a:t>
            </a:r>
            <a:endParaRPr kumimoji="0" lang="en-US" altLang="ko-KR" sz="1400" dirty="0" smtClean="0"/>
          </a:p>
          <a:p>
            <a:pPr marL="0" indent="0">
              <a:buNone/>
            </a:pPr>
            <a:r>
              <a:rPr kumimoji="0" lang="en-US" altLang="ko-KR" sz="1400" dirty="0" smtClean="0"/>
              <a:t>- </a:t>
            </a:r>
            <a:r>
              <a:rPr kumimoji="0" lang="ko-KR" altLang="en-US" sz="1400" dirty="0" smtClean="0"/>
              <a:t>안타 </a:t>
            </a:r>
            <a:r>
              <a:rPr kumimoji="0" lang="en-US" altLang="ko-KR" sz="1400" dirty="0" smtClean="0"/>
              <a:t>KIDS </a:t>
            </a:r>
            <a:r>
              <a:rPr kumimoji="0" lang="ko-KR" altLang="en-US" sz="1400" dirty="0" smtClean="0"/>
              <a:t>메인 공장 </a:t>
            </a:r>
            <a:r>
              <a:rPr kumimoji="0" lang="en-US" altLang="ko-KR" sz="1400" dirty="0" smtClean="0"/>
              <a:t>(</a:t>
            </a:r>
            <a:r>
              <a:rPr kumimoji="0" lang="ko-KR" altLang="en-US" sz="1400" dirty="0" smtClean="0"/>
              <a:t>본사 </a:t>
            </a:r>
            <a:r>
              <a:rPr kumimoji="0" lang="en-US" altLang="ko-KR" sz="1400" dirty="0" smtClean="0"/>
              <a:t>+ 2 </a:t>
            </a:r>
            <a:r>
              <a:rPr kumimoji="0" lang="ko-KR" altLang="en-US" sz="1400" dirty="0" smtClean="0"/>
              <a:t>공장 운영</a:t>
            </a:r>
            <a:r>
              <a:rPr kumimoji="0" lang="en-US" altLang="ko-KR" sz="1400" dirty="0" smtClean="0"/>
              <a:t>)</a:t>
            </a:r>
            <a:r>
              <a:rPr kumimoji="0" lang="ko-KR" altLang="en-US" sz="1400" dirty="0" smtClean="0"/>
              <a:t> </a:t>
            </a:r>
            <a:endParaRPr kumimoji="0" lang="en-US" altLang="ko-KR" sz="1400" dirty="0" smtClean="0"/>
          </a:p>
          <a:p>
            <a:pPr marL="0" indent="0">
              <a:buNone/>
            </a:pPr>
            <a:r>
              <a:rPr kumimoji="0" lang="en-US" altLang="ko-KR" sz="1400" dirty="0" smtClean="0"/>
              <a:t>- 2014</a:t>
            </a:r>
            <a:r>
              <a:rPr kumimoji="0" lang="ko-KR" altLang="en-US" sz="1400" dirty="0" smtClean="0"/>
              <a:t>년도에 안타 </a:t>
            </a:r>
            <a:r>
              <a:rPr kumimoji="0" lang="en-US" altLang="ko-KR" sz="1400" dirty="0" smtClean="0"/>
              <a:t>KIDS </a:t>
            </a:r>
            <a:r>
              <a:rPr kumimoji="0" lang="ko-KR" altLang="en-US" sz="1400" dirty="0" smtClean="0"/>
              <a:t>신발 제조 시작</a:t>
            </a:r>
            <a:r>
              <a:rPr kumimoji="0" lang="en-US" altLang="ko-KR" sz="1400" dirty="0" smtClean="0"/>
              <a:t> </a:t>
            </a:r>
          </a:p>
          <a:p>
            <a:pPr marL="0" indent="0">
              <a:buNone/>
            </a:pPr>
            <a:r>
              <a:rPr kumimoji="0" lang="en-US" altLang="ko-KR" sz="1400" dirty="0" smtClean="0"/>
              <a:t>- </a:t>
            </a:r>
            <a:r>
              <a:rPr kumimoji="0" lang="ko-KR" altLang="en-US" sz="1400" dirty="0" smtClean="0"/>
              <a:t>본사 앞 근거리에 신설 완제 공장 준공 </a:t>
            </a:r>
            <a:r>
              <a:rPr kumimoji="0" lang="en-US" altLang="ko-KR" sz="1400" dirty="0" smtClean="0"/>
              <a:t>(2026</a:t>
            </a:r>
            <a:r>
              <a:rPr kumimoji="0" lang="ko-KR" altLang="en-US" sz="1400" dirty="0" smtClean="0"/>
              <a:t>년 하반기</a:t>
            </a:r>
            <a:r>
              <a:rPr kumimoji="0" lang="en-US" altLang="ko-KR" sz="1400" dirty="0" smtClean="0"/>
              <a:t>)</a:t>
            </a:r>
          </a:p>
          <a:p>
            <a:pPr marL="0" indent="0">
              <a:buNone/>
            </a:pPr>
            <a:r>
              <a:rPr kumimoji="0" lang="en-US" altLang="ko-KR" sz="1400" dirty="0" smtClean="0"/>
              <a:t>- </a:t>
            </a:r>
            <a:r>
              <a:rPr kumimoji="0" lang="ko-KR" altLang="en-US" sz="1400" dirty="0" smtClean="0"/>
              <a:t>연간 </a:t>
            </a:r>
            <a:r>
              <a:rPr kumimoji="0" lang="en-US" altLang="ko-KR" sz="1400" dirty="0" smtClean="0"/>
              <a:t>300</a:t>
            </a:r>
            <a:r>
              <a:rPr kumimoji="0" lang="ko-KR" altLang="en-US" sz="1400" dirty="0" smtClean="0"/>
              <a:t>만족 생산</a:t>
            </a:r>
            <a:endParaRPr kumimoji="0" lang="en-US" altLang="ko-KR" sz="1400" dirty="0" smtClean="0"/>
          </a:p>
          <a:p>
            <a:pPr marL="0" indent="0">
              <a:buNone/>
            </a:pPr>
            <a:r>
              <a:rPr kumimoji="0" lang="en-US" altLang="ko-KR" sz="1400" dirty="0" smtClean="0"/>
              <a:t>- 2028</a:t>
            </a:r>
            <a:r>
              <a:rPr kumimoji="0" lang="ko-KR" altLang="en-US" sz="1400" dirty="0" smtClean="0"/>
              <a:t>년 연간 </a:t>
            </a:r>
            <a:r>
              <a:rPr kumimoji="0" lang="en-US" altLang="ko-KR" sz="1400" dirty="0" smtClean="0"/>
              <a:t>700</a:t>
            </a:r>
            <a:r>
              <a:rPr kumimoji="0" lang="ko-KR" altLang="en-US" sz="1400" dirty="0" smtClean="0"/>
              <a:t>만족 생산을 목표로 함</a:t>
            </a:r>
            <a:endParaRPr kumimoji="0" lang="en-US" altLang="ko-KR" sz="1400" dirty="0" smtClean="0"/>
          </a:p>
          <a:p>
            <a:pPr marL="0" indent="0">
              <a:buNone/>
            </a:pPr>
            <a:r>
              <a:rPr kumimoji="0" lang="en-US" altLang="ko-KR" sz="1400" dirty="0" smtClean="0"/>
              <a:t>- </a:t>
            </a:r>
            <a:r>
              <a:rPr kumimoji="0" lang="ko-KR" altLang="en-US" sz="1400" dirty="0" smtClean="0"/>
              <a:t>고어텍스 라이선스 취득하기 위한 준비 </a:t>
            </a:r>
            <a:r>
              <a:rPr kumimoji="0" lang="ko-KR" altLang="en-US" sz="1400" dirty="0" smtClean="0"/>
              <a:t>작업 중</a:t>
            </a:r>
            <a:endParaRPr kumimoji="0" lang="en-US" altLang="ko-KR" sz="1400" dirty="0" smtClean="0"/>
          </a:p>
          <a:p>
            <a:pPr marL="0" indent="0">
              <a:buNone/>
            </a:pPr>
            <a:r>
              <a:rPr kumimoji="0" lang="en-US" altLang="ko-KR" sz="1400" dirty="0" smtClean="0"/>
              <a:t>- </a:t>
            </a:r>
            <a:r>
              <a:rPr kumimoji="0" lang="ko-KR" altLang="en-US" sz="1400" dirty="0" err="1" smtClean="0"/>
              <a:t>다이나핏</a:t>
            </a:r>
            <a:r>
              <a:rPr kumimoji="0" lang="en-US" altLang="ko-KR" sz="1400" dirty="0" smtClean="0"/>
              <a:t>(</a:t>
            </a:r>
            <a:r>
              <a:rPr kumimoji="0" lang="ko-KR" altLang="en-US" sz="1400" dirty="0" smtClean="0"/>
              <a:t>중국</a:t>
            </a:r>
            <a:r>
              <a:rPr kumimoji="0" lang="en-US" altLang="ko-KR" sz="1400" dirty="0" smtClean="0"/>
              <a:t>)</a:t>
            </a:r>
            <a:r>
              <a:rPr kumimoji="0" lang="ko-KR" altLang="en-US" sz="1400" dirty="0" smtClean="0"/>
              <a:t> 주력 완제 공장</a:t>
            </a:r>
            <a:endParaRPr kumimoji="0" lang="ko-KR" altLang="en-US" sz="1400" dirty="0"/>
          </a:p>
        </p:txBody>
      </p:sp>
      <p:sp>
        <p:nvSpPr>
          <p:cNvPr id="164" name="내용 개체 틀 2"/>
          <p:cNvSpPr txBox="1">
            <a:spLocks/>
          </p:cNvSpPr>
          <p:nvPr/>
        </p:nvSpPr>
        <p:spPr>
          <a:xfrm>
            <a:off x="2894978" y="3717032"/>
            <a:ext cx="965568" cy="360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1400" b="1" kern="1200" baseline="0" smtClean="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( </a:t>
            </a:r>
            <a:r>
              <a:rPr lang="ko-KR" altLang="en-US" dirty="0" err="1" smtClean="0"/>
              <a:t>시작실</a:t>
            </a:r>
            <a:r>
              <a:rPr lang="ko-KR" altLang="en-US" dirty="0" smtClean="0"/>
              <a:t> 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1026" name="Picture 2" descr="C:\Users\USER\Desktop\중국출장서류(26.05.12)\중국 출장 사진\20260513_16413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265" y="2796518"/>
            <a:ext cx="2101315" cy="946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:\Users\USER\Desktop\중국출장서류(26.05.12)\중국 출장 사진\20260514_104608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264" y="4020013"/>
            <a:ext cx="2101315" cy="946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C:\Users\USER\Desktop\중국출장서류(26.05.12)\중국 출장 사진\20260514_104614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927" y="4016921"/>
            <a:ext cx="2091147" cy="946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 descr="C:\Users\USER\Desktop\중국출장서류(26.05.12)\중국 출장 사진\20260514_104714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3672" y="4016783"/>
            <a:ext cx="2101315" cy="946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C:\Users\USER\Desktop\중국출장서류(26.05.12)\중국 출장 사진\20260514_104720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4020013"/>
            <a:ext cx="2101315" cy="946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C:\Users\USER\Desktop\중국출장서류(26.05.12)\중국 출장 사진\20260514_105315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59" y="2780928"/>
            <a:ext cx="2101315" cy="946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7" name="Picture 23" descr="C:\Users\USER\Desktop\중국출장서류(26.05.12)\중국 출장 사진\20260514_105434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159" y="2790742"/>
            <a:ext cx="2101315" cy="946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C:\Users\USER\Desktop\중국출장서류(26.05.12)\중국 출장 사진\20260514_105443.jp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3673" y="2790742"/>
            <a:ext cx="2101315" cy="946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C:\Users\USER\Desktop\중국출장서류(26.05.12)\중국 출장 사진\20260514_105917.jp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689" y="5286168"/>
            <a:ext cx="2101315" cy="946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C:\Users\USER\Desktop\중국출장서류(26.05.12)\중국 출장 사진\20260514_110717.jp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0" y="5294691"/>
            <a:ext cx="2101315" cy="946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9" name="Picture 35" descr="C:\Users\USER\Desktop\중국출장서류(26.05.12)\중국 출장 사진\20260514_111049.jp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5524" y="5286168"/>
            <a:ext cx="2101315" cy="946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 descr="C:\Users\USER\Desktop\중국출장서류(26.05.12)\중국 출장 사진\20260514_111455.jp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91" y="5309221"/>
            <a:ext cx="2101315" cy="946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내용 개체 틀 2"/>
          <p:cNvSpPr txBox="1">
            <a:spLocks/>
          </p:cNvSpPr>
          <p:nvPr/>
        </p:nvSpPr>
        <p:spPr>
          <a:xfrm>
            <a:off x="611560" y="4963209"/>
            <a:ext cx="1368152" cy="360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1400" b="1" kern="1200" baseline="0" smtClean="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( LAB TEST</a:t>
            </a:r>
            <a:r>
              <a:rPr lang="ko-KR" altLang="en-US" dirty="0" smtClean="0"/>
              <a:t>실 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51" name="내용 개체 틀 2"/>
          <p:cNvSpPr txBox="1">
            <a:spLocks/>
          </p:cNvSpPr>
          <p:nvPr/>
        </p:nvSpPr>
        <p:spPr>
          <a:xfrm>
            <a:off x="827584" y="6232594"/>
            <a:ext cx="792088" cy="360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1400" b="1" kern="1200" baseline="0" smtClean="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( </a:t>
            </a:r>
            <a:r>
              <a:rPr lang="ko-KR" altLang="en-US" dirty="0" smtClean="0"/>
              <a:t>현장 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2949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/>
          <p:cNvSpPr txBox="1">
            <a:spLocks/>
          </p:cNvSpPr>
          <p:nvPr/>
        </p:nvSpPr>
        <p:spPr>
          <a:xfrm>
            <a:off x="323530" y="97585"/>
            <a:ext cx="8496944" cy="404813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0" lang="ko-KR" altLang="en-US" sz="1800" dirty="0" err="1" smtClean="0"/>
              <a:t>쿠림</a:t>
            </a:r>
            <a:r>
              <a:rPr kumimoji="0" lang="ko-KR" altLang="en-US" sz="1800" dirty="0" smtClean="0"/>
              <a:t> </a:t>
            </a:r>
            <a:r>
              <a:rPr kumimoji="0" lang="en-US" altLang="ko-KR" sz="1800" dirty="0" smtClean="0"/>
              <a:t>– CPU / KPU</a:t>
            </a:r>
            <a:r>
              <a:rPr kumimoji="0" lang="ko-KR" altLang="en-US" sz="1800" dirty="0" smtClean="0"/>
              <a:t> 부품 업체</a:t>
            </a:r>
            <a:endParaRPr kumimoji="0" lang="en-US" altLang="ko-KR" sz="1800" dirty="0" smtClean="0"/>
          </a:p>
        </p:txBody>
      </p:sp>
      <p:cxnSp>
        <p:nvCxnSpPr>
          <p:cNvPr id="3" name="직선 연결선 2"/>
          <p:cNvCxnSpPr/>
          <p:nvPr/>
        </p:nvCxnSpPr>
        <p:spPr>
          <a:xfrm>
            <a:off x="0" y="502398"/>
            <a:ext cx="9144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2" name="내용 개체 틀 2"/>
          <p:cNvSpPr txBox="1">
            <a:spLocks/>
          </p:cNvSpPr>
          <p:nvPr/>
        </p:nvSpPr>
        <p:spPr>
          <a:xfrm>
            <a:off x="352495" y="764704"/>
            <a:ext cx="7891913" cy="144016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0" lang="en-US" altLang="ko-KR" sz="1400" dirty="0" smtClean="0"/>
              <a:t>- </a:t>
            </a:r>
            <a:r>
              <a:rPr kumimoji="0" lang="ko-KR" altLang="en-US" sz="1400" dirty="0" err="1" smtClean="0"/>
              <a:t>아웃솔</a:t>
            </a:r>
            <a:r>
              <a:rPr kumimoji="0" lang="ko-KR" altLang="en-US" sz="1400" dirty="0" smtClean="0"/>
              <a:t> </a:t>
            </a:r>
            <a:r>
              <a:rPr kumimoji="0" lang="en-US" altLang="ko-KR" sz="1400" dirty="0" smtClean="0"/>
              <a:t>(</a:t>
            </a:r>
            <a:r>
              <a:rPr kumimoji="0" lang="ko-KR" altLang="en-US" sz="1400" dirty="0" smtClean="0"/>
              <a:t>고무 </a:t>
            </a:r>
            <a:r>
              <a:rPr kumimoji="0" lang="ko-KR" altLang="en-US" sz="1400" dirty="0" err="1" smtClean="0"/>
              <a:t>라바</a:t>
            </a:r>
            <a:r>
              <a:rPr kumimoji="0" lang="ko-KR" altLang="en-US" sz="1400" dirty="0" smtClean="0"/>
              <a:t> 대체용으로 </a:t>
            </a:r>
            <a:r>
              <a:rPr kumimoji="0" lang="ko-KR" altLang="en-US" sz="1400" dirty="0" err="1" smtClean="0"/>
              <a:t>런닝에</a:t>
            </a:r>
            <a:r>
              <a:rPr kumimoji="0" lang="ko-KR" altLang="en-US" sz="1400" dirty="0" smtClean="0"/>
              <a:t> 많이 사용</a:t>
            </a:r>
            <a:r>
              <a:rPr kumimoji="0" lang="en-US" altLang="ko-KR" sz="1400" dirty="0" smtClean="0"/>
              <a:t>) : CPU ( Casting Polyurethane )</a:t>
            </a:r>
          </a:p>
          <a:p>
            <a:pPr marL="0" indent="0">
              <a:buNone/>
            </a:pPr>
            <a:r>
              <a:rPr kumimoji="0" lang="en-US" altLang="ko-KR" sz="1400" dirty="0" smtClean="0"/>
              <a:t>- </a:t>
            </a:r>
            <a:r>
              <a:rPr kumimoji="0" lang="ko-KR" altLang="en-US" sz="1400" dirty="0" err="1" smtClean="0"/>
              <a:t>갑피쪽</a:t>
            </a:r>
            <a:r>
              <a:rPr kumimoji="0" lang="ko-KR" altLang="en-US" sz="1400" dirty="0" smtClean="0"/>
              <a:t> 장식에 사용 </a:t>
            </a:r>
            <a:r>
              <a:rPr kumimoji="0" lang="en-US" altLang="ko-KR" sz="1400" dirty="0" smtClean="0"/>
              <a:t>( KPU : Knit Polyurethane )</a:t>
            </a:r>
          </a:p>
          <a:p>
            <a:pPr marL="0" indent="0">
              <a:buNone/>
            </a:pPr>
            <a:r>
              <a:rPr kumimoji="0" lang="en-US" altLang="ko-KR" sz="1400" dirty="0" smtClean="0"/>
              <a:t>- </a:t>
            </a:r>
            <a:r>
              <a:rPr kumimoji="0" lang="ko-KR" altLang="en-US" sz="1400" dirty="0" err="1" smtClean="0"/>
              <a:t>아웃솔</a:t>
            </a:r>
            <a:r>
              <a:rPr kumimoji="0" lang="ko-KR" altLang="en-US" sz="1400" dirty="0" smtClean="0"/>
              <a:t> 용으로 평판 </a:t>
            </a:r>
            <a:r>
              <a:rPr kumimoji="0" lang="ko-KR" altLang="en-US" sz="1400" dirty="0" err="1" smtClean="0"/>
              <a:t>금형에</a:t>
            </a:r>
            <a:r>
              <a:rPr kumimoji="0" lang="ko-KR" altLang="en-US" sz="1400" dirty="0" smtClean="0"/>
              <a:t> 작업하는 경우가 대부분인데 </a:t>
            </a:r>
            <a:r>
              <a:rPr kumimoji="0" lang="ko-KR" altLang="en-US" sz="1400" dirty="0" err="1" smtClean="0"/>
              <a:t>컵솔</a:t>
            </a:r>
            <a:r>
              <a:rPr kumimoji="0" lang="ko-KR" altLang="en-US" sz="1400" dirty="0" smtClean="0"/>
              <a:t> 형태도 사용할 수 있도록 개발됨</a:t>
            </a:r>
            <a:endParaRPr kumimoji="0" lang="en-US" altLang="ko-KR" sz="1400" dirty="0" smtClean="0"/>
          </a:p>
          <a:p>
            <a:pPr marL="0" indent="0">
              <a:buNone/>
            </a:pPr>
            <a:r>
              <a:rPr kumimoji="0" lang="en-US" altLang="ko-KR" sz="1400" dirty="0"/>
              <a:t> </a:t>
            </a:r>
            <a:r>
              <a:rPr kumimoji="0" lang="en-US" altLang="ko-KR" sz="1400" dirty="0" smtClean="0"/>
              <a:t>  (</a:t>
            </a:r>
            <a:r>
              <a:rPr kumimoji="0" lang="ko-KR" altLang="en-US" sz="1400" dirty="0" smtClean="0"/>
              <a:t>현재 테니스화 생산 준비 진행 중</a:t>
            </a:r>
            <a:r>
              <a:rPr kumimoji="0" lang="en-US" altLang="ko-KR" sz="1400" dirty="0" smtClean="0"/>
              <a:t>)</a:t>
            </a:r>
          </a:p>
          <a:p>
            <a:pPr marL="0" indent="0">
              <a:buNone/>
            </a:pPr>
            <a:r>
              <a:rPr kumimoji="0" lang="en-US" altLang="ko-KR" sz="1400" dirty="0" smtClean="0"/>
              <a:t>- </a:t>
            </a:r>
            <a:r>
              <a:rPr kumimoji="0" lang="ko-KR" altLang="en-US" sz="1400" dirty="0" smtClean="0"/>
              <a:t>타이완 </a:t>
            </a:r>
            <a:r>
              <a:rPr kumimoji="0" lang="en-US" altLang="ko-KR" sz="1400" dirty="0" smtClean="0"/>
              <a:t>/ </a:t>
            </a:r>
            <a:r>
              <a:rPr kumimoji="0" lang="ko-KR" altLang="en-US" sz="1400" dirty="0" smtClean="0"/>
              <a:t>중국 </a:t>
            </a:r>
            <a:r>
              <a:rPr kumimoji="0" lang="en-US" altLang="ko-KR" sz="1400" dirty="0" smtClean="0"/>
              <a:t>/ </a:t>
            </a:r>
            <a:r>
              <a:rPr kumimoji="0" lang="ko-KR" altLang="en-US" sz="1400" dirty="0" smtClean="0"/>
              <a:t>베트남에 </a:t>
            </a:r>
            <a:r>
              <a:rPr kumimoji="0" lang="en-US" altLang="ko-KR" sz="1400" dirty="0" smtClean="0"/>
              <a:t>‘</a:t>
            </a:r>
            <a:r>
              <a:rPr kumimoji="0" lang="ko-KR" altLang="en-US" sz="1400" dirty="0" err="1" smtClean="0"/>
              <a:t>쿠림</a:t>
            </a:r>
            <a:r>
              <a:rPr kumimoji="0" lang="en-US" altLang="ko-KR" sz="1400" dirty="0" smtClean="0"/>
              <a:t>’</a:t>
            </a:r>
            <a:r>
              <a:rPr kumimoji="0" lang="ko-KR" altLang="en-US" sz="1400" dirty="0" smtClean="0"/>
              <a:t> 공장이 있음</a:t>
            </a:r>
            <a:endParaRPr kumimoji="0" lang="en-US" altLang="ko-KR" sz="1400" dirty="0" smtClean="0"/>
          </a:p>
        </p:txBody>
      </p:sp>
      <p:pic>
        <p:nvPicPr>
          <p:cNvPr id="2050" name="Picture 2" descr="C:\Users\USER\Desktop\중국출장서류(26.05.12)\중국 출장 사진\20260514_143818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291" y="2552137"/>
            <a:ext cx="2048256" cy="92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USER\Desktop\중국출장서류(26.05.12)\중국 출장 사진\20260514_145111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6516" y="2552137"/>
            <a:ext cx="2048256" cy="92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:\Users\USER\Desktop\중국출장서류(26.05.12)\중국 출장 사진\20260514_145123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383870" y="4401110"/>
            <a:ext cx="2234116" cy="1006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C:\Users\USER\Desktop\중국출장서류(26.05.12)\중국 출장 사진\20260514_145126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671387" y="4401110"/>
            <a:ext cx="2234117" cy="1006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:\Users\USER\Desktop\중국출장서류(26.05.12)\중국 출장 사진\20260514_145151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214576" y="4383362"/>
            <a:ext cx="2258593" cy="1017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 descr="C:\Users\USER\Desktop\중국출장서류(26.05.12)\중국 출장 사진\20260514_145329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953458" y="4383362"/>
            <a:ext cx="2258593" cy="1017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C:\Users\USER\Desktop\중국출장서류(26.05.12)\중국 출장 사진\20260514_145817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7854" y="2552137"/>
            <a:ext cx="2048256" cy="92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9" name="Picture 11" descr="C:\Users\USER\Desktop\중국출장서류(26.05.12)\중국 출장 사진\20260514_145901.jp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2552137"/>
            <a:ext cx="2048256" cy="92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291" y="3792438"/>
            <a:ext cx="3400425" cy="222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8735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중대과실불량공유2016080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중대과실불량공유20160805</Template>
  <TotalTime>3693</TotalTime>
  <Words>623</Words>
  <Application>Microsoft Office PowerPoint</Application>
  <PresentationFormat>화면 슬라이드 쇼(4:3)</PresentationFormat>
  <Paragraphs>84</Paragraphs>
  <Slides>8</Slides>
  <Notes>7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9" baseType="lpstr">
      <vt:lpstr>중대과실불량공유20160805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중대과실 불량 공유</dc:title>
  <dc:creator>User</dc:creator>
  <cp:lastModifiedBy>choi in kwon</cp:lastModifiedBy>
  <cp:revision>147</cp:revision>
  <cp:lastPrinted>2023-02-08T00:49:52Z</cp:lastPrinted>
  <dcterms:created xsi:type="dcterms:W3CDTF">2016-08-11T05:43:39Z</dcterms:created>
  <dcterms:modified xsi:type="dcterms:W3CDTF">2026-05-22T04:25:52Z</dcterms:modified>
</cp:coreProperties>
</file>